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26" r:id="rId11"/>
    <p:sldId id="308" r:id="rId12"/>
    <p:sldId id="310" r:id="rId13"/>
    <p:sldId id="311" r:id="rId14"/>
    <p:sldId id="312" r:id="rId15"/>
    <p:sldId id="313" r:id="rId16"/>
    <p:sldId id="314" r:id="rId17"/>
    <p:sldId id="315" r:id="rId18"/>
    <p:sldId id="319" r:id="rId19"/>
    <p:sldId id="320" r:id="rId20"/>
    <p:sldId id="321" r:id="rId21"/>
    <p:sldId id="324" r:id="rId22"/>
    <p:sldId id="325" r:id="rId23"/>
    <p:sldId id="322" r:id="rId24"/>
    <p:sldId id="323" r:id="rId25"/>
    <p:sldId id="298" r:id="rId26"/>
    <p:sldId id="299" r:id="rId27"/>
  </p:sldIdLst>
  <p:sldSz cx="9144000" cy="6858000" type="screen4x3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1121"/>
    <a:srgbClr val="F4EE00"/>
    <a:srgbClr val="198545"/>
    <a:srgbClr val="307E2A"/>
    <a:srgbClr val="377D2B"/>
    <a:srgbClr val="66822E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42" autoAdjust="0"/>
    <p:restoredTop sz="50000" autoAdjust="0"/>
  </p:normalViewPr>
  <p:slideViewPr>
    <p:cSldViewPr>
      <p:cViewPr varScale="1">
        <p:scale>
          <a:sx n="130" d="100"/>
          <a:sy n="130" d="100"/>
        </p:scale>
        <p:origin x="134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D89ACDBE-C7D3-4807-BC10-892717935A2D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8"/>
            <a:ext cx="3037840" cy="46180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CEBCC84F-1AE7-4A9F-8FEB-C6AF55943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92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5pPr>
            <a:lvl6pPr marL="25146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6pPr>
            <a:lvl7pPr marL="29718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7pPr>
            <a:lvl8pPr marL="34290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8pPr>
            <a:lvl9pPr marL="38862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95000"/>
              </a:lnSpc>
            </a:pPr>
            <a:fld id="{265CE317-F0E1-4B12-98E2-40102860242D}" type="slidenum">
              <a:rPr lang="en-US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2</a:t>
            </a:fld>
            <a:endParaRPr lang="en-US" altLang="en-U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632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5pPr>
            <a:lvl6pPr marL="25146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6pPr>
            <a:lvl7pPr marL="29718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7pPr>
            <a:lvl8pPr marL="34290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8pPr>
            <a:lvl9pPr marL="38862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95000"/>
              </a:lnSpc>
            </a:pPr>
            <a:fld id="{B95E7C31-A57C-4679-86B2-95F2D23EAB8E}" type="slidenum">
              <a:rPr lang="en-US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25</a:t>
            </a:fld>
            <a:endParaRPr lang="en-US" altLang="en-U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130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5pPr>
            <a:lvl6pPr marL="25146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6pPr>
            <a:lvl7pPr marL="29718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7pPr>
            <a:lvl8pPr marL="34290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8pPr>
            <a:lvl9pPr marL="3886200" indent="-228600" defTabSz="719138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95000"/>
              </a:lnSpc>
            </a:pPr>
            <a:fld id="{4D47829B-C7DD-4B7A-AD39-1E675BA55BD7}" type="slidenum">
              <a:rPr lang="en-US" altLang="en-US" sz="140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lnSpc>
                  <a:spcPct val="95000"/>
                </a:lnSpc>
              </a:pPr>
              <a:t>26</a:t>
            </a:fld>
            <a:endParaRPr lang="en-US" altLang="en-U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01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834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9.xml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10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24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143000"/>
            <a:ext cx="8686798" cy="5105400"/>
          </a:xfrm>
        </p:spPr>
        <p:txBody>
          <a:bodyPr/>
          <a:lstStyle>
            <a:lvl1pPr marL="342900" indent="-342900">
              <a:buFont typeface="Wingdings" pitchFamily="2" charset="2"/>
              <a:buChar char="v"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742950" indent="-285750">
              <a:buFont typeface="Wingdings" pitchFamily="2" charset="2"/>
              <a:buChar char="Ø"/>
              <a:defRPr sz="2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ound Diagonal Corner Rectangle 6"/>
          <p:cNvSpPr/>
          <p:nvPr userDrawn="1"/>
        </p:nvSpPr>
        <p:spPr>
          <a:xfrm>
            <a:off x="228600" y="228600"/>
            <a:ext cx="8686799" cy="685800"/>
          </a:xfrm>
          <a:prstGeom prst="round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35000">
                <a:schemeClr val="bg1">
                  <a:lumMod val="95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</a:gradFill>
          <a:ln>
            <a:noFill/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lvl="0" indent="-342900" algn="ctr" fontAlgn="auto">
              <a:spcBef>
                <a:spcPts val="0"/>
              </a:spcBef>
              <a:spcAft>
                <a:spcPts val="0"/>
              </a:spcAft>
            </a:pPr>
            <a:endParaRPr lang="en-US" sz="1400" b="1" kern="0">
              <a:solidFill>
                <a:schemeClr val="tx2"/>
              </a:solidFill>
              <a:latin typeface="Arial" pitchFamily="34" charset="0"/>
              <a:ea typeface="ＭＳ Ｐゴシック" pitchFamily="-97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82000" cy="639762"/>
          </a:xfrm>
        </p:spPr>
        <p:txBody>
          <a:bodyPr/>
          <a:lstStyle>
            <a:lvl1pPr>
              <a:defRPr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361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97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63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96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68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76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79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02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01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00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3871D-07C3-4E8E-98F9-CB630337BE9E}" type="datetimeFigureOut">
              <a:rPr lang="en-US" smtClean="0"/>
              <a:t>10/31/17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0B397-0551-4B21-9660-CAFE1BD804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2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accent3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accent3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accent3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3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3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ocs.oracle.com/javase/8/docs/technotes/tools/unix/javadoc.html#CHDBEFIF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racle.com/technetwork/java/javase/documentation/index-137868.html" TargetMode="External"/><Relationship Id="rId4" Type="http://schemas.openxmlformats.org/officeDocument/2006/relationships/hyperlink" Target="http://docs.oracle.com/javase/8/docs/technotes/tools/unix/javadoc.html#CHDBEFIF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29400" y="5410200"/>
            <a:ext cx="2235539" cy="10668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Tin Bui</a:t>
            </a:r>
          </a:p>
          <a:p>
            <a:r>
              <a:rPr lang="en-US" b="1" smtClean="0">
                <a:solidFill>
                  <a:schemeClr val="tx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Oct. </a:t>
            </a:r>
            <a:r>
              <a:rPr lang="en-US" b="1" dirty="0" smtClean="0">
                <a:solidFill>
                  <a:schemeClr val="tx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2017</a:t>
            </a:r>
            <a:endParaRPr lang="en-US" b="1" dirty="0">
              <a:solidFill>
                <a:schemeClr val="tx2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914400" y="208340"/>
            <a:ext cx="6553200" cy="5735260"/>
            <a:chOff x="914400" y="25400"/>
            <a:chExt cx="6553200" cy="5735260"/>
          </a:xfrm>
        </p:grpSpPr>
        <p:sp>
          <p:nvSpPr>
            <p:cNvPr id="18" name="Rectangle 17"/>
            <p:cNvSpPr/>
            <p:nvPr/>
          </p:nvSpPr>
          <p:spPr>
            <a:xfrm>
              <a:off x="4114800" y="4191000"/>
              <a:ext cx="33528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600" dirty="0" smtClean="0">
                  <a:solidFill>
                    <a:srgbClr val="F7112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Impact" pitchFamily="34" charset="0"/>
                  <a:cs typeface="Arial" pitchFamily="34" charset="0"/>
                </a:rPr>
                <a:t>Doc</a:t>
              </a:r>
              <a:endParaRPr lang="en-US" sz="9600" dirty="0">
                <a:solidFill>
                  <a:srgbClr val="F7112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" y="25400"/>
              <a:ext cx="3067050" cy="5705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012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480961" y="207721"/>
            <a:ext cx="8228160" cy="763200"/>
          </a:xfrm>
        </p:spPr>
        <p:txBody>
          <a:bodyPr vert="horz" lIns="91440" tIns="28802" rIns="91440" bIns="45720" rtlCol="0" anchor="ctr"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US" altLang="en-US" dirty="0" smtClean="0"/>
              <a:t>Agenda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idx="1"/>
          </p:nvPr>
        </p:nvSpPr>
        <p:spPr>
          <a:xfrm>
            <a:off x="456481" y="1244521"/>
            <a:ext cx="8228160" cy="4885920"/>
          </a:xfrm>
        </p:spPr>
        <p:txBody>
          <a:bodyPr>
            <a:normAutofit/>
          </a:bodyPr>
          <a:lstStyle/>
          <a:p>
            <a:pPr marL="391686" indent="-293764">
              <a:buClr>
                <a:srgbClr val="FFCC99"/>
              </a:buClr>
              <a:buSzPct val="45000"/>
              <a:buFont typeface="Wingdings" panose="05000000000000000000" pitchFamily="2" charset="2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US" altLang="en-US" dirty="0" smtClean="0"/>
              <a:t>What is </a:t>
            </a:r>
            <a:r>
              <a:rPr lang="en-US" altLang="en-US" dirty="0" err="1" smtClean="0"/>
              <a:t>JavaDoc</a:t>
            </a:r>
            <a:r>
              <a:rPr lang="en-US" altLang="en-US" dirty="0" smtClean="0"/>
              <a:t>?</a:t>
            </a:r>
          </a:p>
          <a:p>
            <a:pPr marL="391686" indent="-293764">
              <a:buClr>
                <a:srgbClr val="FFCC99"/>
              </a:buClr>
              <a:buSzPct val="45000"/>
              <a:buFont typeface="Wingdings" panose="05000000000000000000" pitchFamily="2" charset="2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US" altLang="en-US" dirty="0" err="1" smtClean="0"/>
              <a:t>JavaDoc</a:t>
            </a:r>
            <a:r>
              <a:rPr lang="en-US" altLang="en-US" dirty="0" smtClean="0"/>
              <a:t> tags</a:t>
            </a:r>
          </a:p>
          <a:p>
            <a:pPr marL="391686" indent="-293764">
              <a:buClr>
                <a:srgbClr val="FFCC99"/>
              </a:buClr>
              <a:buSzPct val="45000"/>
              <a:buFont typeface="Wingdings" panose="05000000000000000000" pitchFamily="2" charset="2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US" altLang="en-US" dirty="0" err="1" smtClean="0"/>
              <a:t>JavaDoc</a:t>
            </a:r>
            <a:r>
              <a:rPr lang="en-US" altLang="en-US" smtClean="0"/>
              <a:t> Conventions</a:t>
            </a:r>
          </a:p>
          <a:p>
            <a:pPr marL="97922" indent="0">
              <a:buClr>
                <a:srgbClr val="FFCC99"/>
              </a:buClr>
              <a:buSzPct val="45000"/>
              <a:buNone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439079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</a:t>
            </a:r>
            <a:r>
              <a:rPr lang="en-US" dirty="0" err="1"/>
              <a:t>JavaDoc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5768"/>
            <a:ext cx="7543800" cy="225907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</a:t>
            </a:r>
            <a:r>
              <a:rPr lang="en-US" dirty="0"/>
              <a:t>tool for generating API </a:t>
            </a:r>
            <a:r>
              <a:rPr lang="en-US" dirty="0" smtClean="0"/>
              <a:t>documentation </a:t>
            </a:r>
          </a:p>
          <a:p>
            <a:pPr lvl="1"/>
            <a:r>
              <a:rPr lang="en-US" dirty="0" smtClean="0"/>
              <a:t>From Java source code</a:t>
            </a:r>
          </a:p>
          <a:p>
            <a:r>
              <a:rPr lang="en-US" dirty="0" err="1" smtClean="0"/>
              <a:t>JavaDoc</a:t>
            </a:r>
            <a:r>
              <a:rPr lang="en-US" dirty="0" smtClean="0"/>
              <a:t> has 2 parts:</a:t>
            </a:r>
          </a:p>
          <a:p>
            <a:pPr lvl="1"/>
            <a:r>
              <a:rPr lang="en-US" dirty="0" smtClean="0"/>
              <a:t>Comments</a:t>
            </a:r>
          </a:p>
          <a:p>
            <a:pPr lvl="1"/>
            <a:r>
              <a:rPr lang="en-US" dirty="0" smtClean="0"/>
              <a:t>Tags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59" y="3765720"/>
            <a:ext cx="5302485" cy="1644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223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686798" cy="5105400"/>
          </a:xfrm>
        </p:spPr>
        <p:txBody>
          <a:bodyPr/>
          <a:lstStyle/>
          <a:p>
            <a:r>
              <a:rPr lang="en-US" dirty="0" err="1" smtClean="0"/>
              <a:t>JavaDoc</a:t>
            </a:r>
            <a:r>
              <a:rPr lang="en-US" dirty="0" smtClean="0"/>
              <a:t> comment</a:t>
            </a:r>
          </a:p>
          <a:p>
            <a:pPr lvl="1"/>
            <a:r>
              <a:rPr lang="en-US" dirty="0" smtClean="0"/>
              <a:t>Begin with /**</a:t>
            </a:r>
            <a:r>
              <a:rPr lang="en-US" dirty="0"/>
              <a:t> marker</a:t>
            </a:r>
            <a:endParaRPr lang="en-US" dirty="0" smtClean="0"/>
          </a:p>
          <a:p>
            <a:pPr lvl="1"/>
            <a:r>
              <a:rPr lang="en-US" dirty="0" smtClean="0"/>
              <a:t>End with */</a:t>
            </a:r>
            <a:r>
              <a:rPr lang="en-US" dirty="0"/>
              <a:t> </a:t>
            </a:r>
            <a:r>
              <a:rPr lang="en-US" dirty="0" smtClean="0"/>
              <a:t>marker</a:t>
            </a:r>
          </a:p>
          <a:p>
            <a:pPr lvl="1"/>
            <a:r>
              <a:rPr lang="en-US" dirty="0" smtClean="0"/>
              <a:t>All </a:t>
            </a:r>
            <a:r>
              <a:rPr lang="en-US" dirty="0"/>
              <a:t>the lines in the middle start with an asterisk </a:t>
            </a:r>
            <a:endParaRPr lang="en-US" dirty="0" smtClean="0"/>
          </a:p>
          <a:p>
            <a:pPr lvl="2"/>
            <a:r>
              <a:rPr lang="en-US" dirty="0" smtClean="0"/>
              <a:t>Lined </a:t>
            </a:r>
            <a:r>
              <a:rPr lang="en-US" dirty="0"/>
              <a:t>up under the first asterisk in the first line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Any valid HTML can be embedded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JavaDoc</a:t>
            </a:r>
            <a:r>
              <a:rPr lang="en-US" dirty="0" smtClean="0"/>
              <a:t> Comments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4341674"/>
            <a:ext cx="6705600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b="1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n-US" b="1" dirty="0">
                <a:solidFill>
                  <a:srgbClr val="3F5FBF"/>
                </a:solidFill>
                <a:latin typeface="Consolas" panose="020B0609020204030204" pitchFamily="49" charset="0"/>
              </a:rPr>
              <a:t> This is a </a:t>
            </a:r>
            <a:r>
              <a:rPr lang="en-US" b="1" dirty="0">
                <a:solidFill>
                  <a:srgbClr val="7F7F9F"/>
                </a:solidFill>
                <a:latin typeface="Consolas" panose="020B0609020204030204" pitchFamily="49" charset="0"/>
              </a:rPr>
              <a:t>&lt;b&gt;</a:t>
            </a:r>
            <a:r>
              <a:rPr lang="en-US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JavaDoc</a:t>
            </a:r>
            <a:r>
              <a:rPr lang="en-US" b="1" dirty="0">
                <a:solidFill>
                  <a:srgbClr val="7F7F9F"/>
                </a:solidFill>
                <a:latin typeface="Consolas" panose="020B0609020204030204" pitchFamily="49" charset="0"/>
              </a:rPr>
              <a:t>&lt;/b&gt;</a:t>
            </a:r>
            <a:r>
              <a:rPr lang="en-US" b="1" dirty="0">
                <a:solidFill>
                  <a:srgbClr val="3F5FBF"/>
                </a:solidFill>
                <a:latin typeface="Consolas" panose="020B0609020204030204" pitchFamily="49" charset="0"/>
              </a:rPr>
              <a:t> comment.</a:t>
            </a:r>
          </a:p>
          <a:p>
            <a:r>
              <a:rPr lang="en-US" b="1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doStuff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throws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AlphaException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//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159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Must </a:t>
            </a:r>
            <a:r>
              <a:rPr lang="en-US" dirty="0"/>
              <a:t>appear immediately before </a:t>
            </a:r>
          </a:p>
          <a:p>
            <a:pPr lvl="1"/>
            <a:r>
              <a:rPr lang="en-US" dirty="0"/>
              <a:t>package</a:t>
            </a:r>
          </a:p>
          <a:p>
            <a:pPr lvl="1"/>
            <a:r>
              <a:rPr lang="en-US" dirty="0"/>
              <a:t>class </a:t>
            </a:r>
          </a:p>
          <a:p>
            <a:pPr lvl="1"/>
            <a:r>
              <a:rPr lang="en-US" dirty="0"/>
              <a:t>interface </a:t>
            </a:r>
          </a:p>
          <a:p>
            <a:pPr lvl="1"/>
            <a:r>
              <a:rPr lang="en-US" dirty="0"/>
              <a:t>constructor </a:t>
            </a:r>
          </a:p>
          <a:p>
            <a:pPr lvl="1"/>
            <a:r>
              <a:rPr lang="en-US" dirty="0"/>
              <a:t>method</a:t>
            </a:r>
          </a:p>
          <a:p>
            <a:pPr lvl="1"/>
            <a:r>
              <a:rPr lang="en-US" dirty="0"/>
              <a:t>data member </a:t>
            </a:r>
            <a:r>
              <a:rPr lang="en-US" dirty="0" smtClean="0"/>
              <a:t>declarations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JavaDoc</a:t>
            </a:r>
            <a:r>
              <a:rPr lang="en-US" dirty="0"/>
              <a:t> Comments</a:t>
            </a:r>
          </a:p>
        </p:txBody>
      </p:sp>
    </p:spTree>
    <p:extLst>
      <p:ext uri="{BB962C8B-B14F-4D97-AF65-F5344CB8AC3E}">
        <p14:creationId xmlns:p14="http://schemas.microsoft.com/office/powerpoint/2010/main" val="4234748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first sentence is a “</a:t>
            </a:r>
            <a:r>
              <a:rPr lang="en-US" b="1" dirty="0"/>
              <a:t>summary sentence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Should </a:t>
            </a:r>
            <a:r>
              <a:rPr lang="en-US" dirty="0"/>
              <a:t>be a short description of the </a:t>
            </a:r>
            <a:r>
              <a:rPr lang="en-US" dirty="0" smtClean="0"/>
              <a:t>element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JavaDoc</a:t>
            </a:r>
            <a:r>
              <a:rPr lang="en-US" dirty="0"/>
              <a:t> Comments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2433697"/>
            <a:ext cx="7391400" cy="206210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/**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Returns the number of key</a:t>
            </a:r>
            <a:r>
              <a:rPr lang="en-US" sz="1600" b="1" dirty="0">
                <a:solidFill>
                  <a:srgbClr val="7F7F9F"/>
                </a:solidFill>
                <a:latin typeface="Consolas" panose="020B0609020204030204" pitchFamily="49" charset="0"/>
              </a:rPr>
              <a:t>-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value mappings in this map</a:t>
            </a:r>
            <a:r>
              <a:rPr lang="en-US" sz="1600" b="1" dirty="0" smtClean="0">
                <a:solidFill>
                  <a:srgbClr val="3F5FBF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If the 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map contains more than </a:t>
            </a:r>
            <a:r>
              <a:rPr lang="en-US" sz="1600" dirty="0" smtClean="0">
                <a:solidFill>
                  <a:srgbClr val="7F7F9F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 smtClean="0">
                <a:solidFill>
                  <a:srgbClr val="7F7F9F"/>
                </a:solidFill>
                <a:latin typeface="Consolas" panose="020B0609020204030204" pitchFamily="49" charset="0"/>
              </a:rPr>
              <a:t>tt</a:t>
            </a:r>
            <a:r>
              <a:rPr lang="en-US" sz="1600" dirty="0" smtClean="0">
                <a:solidFill>
                  <a:srgbClr val="7F7F9F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 err="1" smtClean="0">
                <a:solidFill>
                  <a:srgbClr val="3F5FBF"/>
                </a:solidFill>
                <a:latin typeface="Consolas" panose="020B0609020204030204" pitchFamily="49" charset="0"/>
              </a:rPr>
              <a:t>Integer.MAX_VALUE</a:t>
            </a:r>
            <a:r>
              <a:rPr lang="en-US" sz="1600" dirty="0" smtClean="0">
                <a:solidFill>
                  <a:srgbClr val="7F7F9F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 smtClean="0">
                <a:solidFill>
                  <a:srgbClr val="7F7F9F"/>
                </a:solidFill>
                <a:latin typeface="Consolas" panose="020B0609020204030204" pitchFamily="49" charset="0"/>
              </a:rPr>
              <a:t>tt</a:t>
            </a:r>
            <a:r>
              <a:rPr lang="en-US" sz="1600" dirty="0" smtClean="0">
                <a:solidFill>
                  <a:srgbClr val="7F7F9F"/>
                </a:solidFill>
                <a:latin typeface="Consolas" panose="020B0609020204030204" pitchFamily="49" charset="0"/>
              </a:rPr>
              <a:t>&gt;</a:t>
            </a:r>
            <a:endParaRPr lang="en-US" sz="1600" dirty="0" smtClean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elements, returns </a:t>
            </a:r>
            <a:r>
              <a:rPr lang="en-US" sz="1600" dirty="0" smtClean="0">
                <a:solidFill>
                  <a:srgbClr val="7F7F9F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 smtClean="0">
                <a:solidFill>
                  <a:srgbClr val="7F7F9F"/>
                </a:solidFill>
                <a:latin typeface="Consolas" panose="020B0609020204030204" pitchFamily="49" charset="0"/>
              </a:rPr>
              <a:t>tt</a:t>
            </a:r>
            <a:r>
              <a:rPr lang="en-US" sz="1600" dirty="0" smtClean="0">
                <a:solidFill>
                  <a:srgbClr val="7F7F9F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 err="1" smtClean="0">
                <a:solidFill>
                  <a:srgbClr val="3F5FBF"/>
                </a:solidFill>
                <a:latin typeface="Consolas" panose="020B0609020204030204" pitchFamily="49" charset="0"/>
              </a:rPr>
              <a:t>Integer.MAX_VALUE</a:t>
            </a:r>
            <a:r>
              <a:rPr lang="en-US" sz="1600" dirty="0" smtClean="0">
                <a:solidFill>
                  <a:srgbClr val="7F7F9F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 smtClean="0">
                <a:solidFill>
                  <a:srgbClr val="7F7F9F"/>
                </a:solidFill>
                <a:latin typeface="Consolas" panose="020B0609020204030204" pitchFamily="49" charset="0"/>
              </a:rPr>
              <a:t>tt</a:t>
            </a:r>
            <a:r>
              <a:rPr lang="en-US" sz="1600" dirty="0" smtClean="0">
                <a:solidFill>
                  <a:srgbClr val="7F7F9F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@return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the number of key</a:t>
            </a:r>
            <a:r>
              <a:rPr lang="en-US" sz="1600" dirty="0">
                <a:solidFill>
                  <a:srgbClr val="7F7F9F"/>
                </a:solidFill>
                <a:latin typeface="Consolas" panose="020B0609020204030204" pitchFamily="49" charset="0"/>
              </a:rPr>
              <a:t>-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value mappings in this map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*/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size();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05626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JavaDoc</a:t>
            </a:r>
            <a:r>
              <a:rPr lang="en-US" dirty="0" smtClean="0"/>
              <a:t>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7543800" cy="1567872"/>
          </a:xfrm>
        </p:spPr>
        <p:txBody>
          <a:bodyPr>
            <a:normAutofit/>
          </a:bodyPr>
          <a:lstStyle/>
          <a:p>
            <a:r>
              <a:rPr lang="en-US" dirty="0" smtClean="0"/>
              <a:t>A tag </a:t>
            </a:r>
            <a:r>
              <a:rPr lang="en-US" dirty="0"/>
              <a:t>start with the “at” symbol </a:t>
            </a:r>
            <a:r>
              <a:rPr lang="en-US" b="1" dirty="0" smtClean="0">
                <a:solidFill>
                  <a:srgbClr val="FF0000"/>
                </a:solidFill>
              </a:rPr>
              <a:t>@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2400" y="2133600"/>
            <a:ext cx="8839200" cy="37856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/**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Compares this string to the specified object.  The result is {@code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true} if and only if the argument is not {@code null} and is a {@code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String} object that represents the same sequence of characters as this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object.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@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param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anObject</a:t>
            </a:r>
            <a:endParaRPr lang="en-US" sz="1600" b="1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       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The object to compare this {@code String} against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@return  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{@code true} if the given object represents a {@code String}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         equivalent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to this string, {@code false} otherwise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@see  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#</a:t>
            </a:r>
            <a:r>
              <a:rPr lang="en-US" sz="1600" b="1" dirty="0" err="1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compareTo</a:t>
            </a:r>
            <a:r>
              <a:rPr lang="en-US" sz="1600" b="1" dirty="0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(String)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*/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equals(Object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anObject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{…}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1778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JavaDoc</a:t>
            </a:r>
            <a:r>
              <a:rPr lang="en-US" dirty="0" smtClean="0"/>
              <a:t>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410200"/>
          </a:xfrm>
        </p:spPr>
        <p:txBody>
          <a:bodyPr>
            <a:normAutofit/>
          </a:bodyPr>
          <a:lstStyle/>
          <a:p>
            <a:r>
              <a:rPr lang="en-US" dirty="0" smtClean="0"/>
              <a:t>2 kinds of tags</a:t>
            </a:r>
          </a:p>
          <a:p>
            <a:pPr lvl="1"/>
            <a:r>
              <a:rPr lang="en-US" dirty="0"/>
              <a:t>Block </a:t>
            </a:r>
            <a:r>
              <a:rPr lang="en-US" dirty="0" smtClean="0"/>
              <a:t>tags </a:t>
            </a:r>
          </a:p>
          <a:p>
            <a:pPr lvl="2"/>
            <a:r>
              <a:rPr lang="en-US" dirty="0"/>
              <a:t>W</a:t>
            </a:r>
            <a:r>
              <a:rPr lang="en-US" dirty="0" smtClean="0"/>
              <a:t>hich </a:t>
            </a:r>
            <a:r>
              <a:rPr lang="en-US" dirty="0"/>
              <a:t>appear as @</a:t>
            </a:r>
            <a:r>
              <a:rPr lang="en-US" dirty="0" smtClean="0"/>
              <a:t>tag </a:t>
            </a:r>
          </a:p>
          <a:p>
            <a:pPr lvl="2"/>
            <a:r>
              <a:rPr lang="en-US" dirty="0" smtClean="0"/>
              <a:t>E.g. </a:t>
            </a:r>
            <a:r>
              <a:rPr lang="en-US" b="1" dirty="0" smtClean="0"/>
              <a:t>@</a:t>
            </a:r>
            <a:r>
              <a:rPr lang="en-US" b="1" dirty="0" err="1" smtClean="0"/>
              <a:t>param</a:t>
            </a:r>
            <a:endParaRPr lang="en-US" b="1" dirty="0"/>
          </a:p>
          <a:p>
            <a:pPr lvl="2"/>
            <a:r>
              <a:rPr lang="en-US" dirty="0"/>
              <a:t>Also known as "standalone" tags</a:t>
            </a:r>
          </a:p>
          <a:p>
            <a:pPr lvl="2"/>
            <a:r>
              <a:rPr lang="en-US" dirty="0"/>
              <a:t>Must appear at the beginning of a </a:t>
            </a:r>
            <a:r>
              <a:rPr lang="en-US" dirty="0" smtClean="0"/>
              <a:t>line</a:t>
            </a:r>
            <a:endParaRPr lang="en-US" dirty="0"/>
          </a:p>
          <a:p>
            <a:pPr lvl="1"/>
            <a:r>
              <a:rPr lang="en-US" dirty="0" smtClean="0"/>
              <a:t>In-line tags </a:t>
            </a:r>
          </a:p>
          <a:p>
            <a:pPr lvl="2"/>
            <a:r>
              <a:rPr lang="en-US" dirty="0" smtClean="0"/>
              <a:t>Which </a:t>
            </a:r>
            <a:r>
              <a:rPr lang="en-US" dirty="0"/>
              <a:t>appear within curly </a:t>
            </a:r>
            <a:r>
              <a:rPr lang="en-US" dirty="0" smtClean="0"/>
              <a:t>braces </a:t>
            </a:r>
            <a:r>
              <a:rPr lang="en-US" dirty="0"/>
              <a:t>as {@tag</a:t>
            </a:r>
            <a:r>
              <a:rPr lang="en-US" dirty="0" smtClean="0"/>
              <a:t>} </a:t>
            </a:r>
          </a:p>
          <a:p>
            <a:pPr lvl="2"/>
            <a:r>
              <a:rPr lang="en-US" dirty="0" smtClean="0"/>
              <a:t>E.g. {</a:t>
            </a:r>
            <a:r>
              <a:rPr lang="en-US" b="1" dirty="0" smtClean="0"/>
              <a:t>@</a:t>
            </a:r>
            <a:r>
              <a:rPr lang="en-US" b="1" dirty="0"/>
              <a:t>code</a:t>
            </a:r>
            <a:r>
              <a:rPr lang="en-US" dirty="0"/>
              <a:t> String}</a:t>
            </a:r>
          </a:p>
          <a:p>
            <a:pPr lvl="2"/>
            <a:r>
              <a:rPr lang="en-US" dirty="0"/>
              <a:t>An in-line tag is allowed and interpreted anywhere that text is allowed</a:t>
            </a:r>
          </a:p>
        </p:txBody>
      </p:sp>
    </p:spTree>
    <p:extLst>
      <p:ext uri="{BB962C8B-B14F-4D97-AF65-F5344CB8AC3E}">
        <p14:creationId xmlns:p14="http://schemas.microsoft.com/office/powerpoint/2010/main" val="14323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JavaDoc</a:t>
            </a:r>
            <a:r>
              <a:rPr lang="en-US" dirty="0" smtClean="0"/>
              <a:t> Tags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52400" y="2819400"/>
            <a:ext cx="8839200" cy="37856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/**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Compares this string to the specified object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.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The result is {@code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true} if and only if the argument is not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{@code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null} and is a {@code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String} object that represents the same sequence of characters as this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object.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@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param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anObject</a:t>
            </a:r>
            <a:endParaRPr lang="en-US" sz="1600" b="1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       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The object to compare this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{@code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String} against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@return  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{@code true} if the given object represents a {@code String}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         equivalent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to this string, {@code false} otherwise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@see  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#</a:t>
            </a:r>
            <a:r>
              <a:rPr lang="en-US" sz="1600" b="1" dirty="0" err="1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compareTo</a:t>
            </a:r>
            <a:r>
              <a:rPr lang="en-US" sz="1600" b="1" dirty="0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(String)</a:t>
            </a:r>
          </a:p>
          <a:p>
            <a:r>
              <a:rPr lang="en-US" sz="1600" smtClean="0">
                <a:solidFill>
                  <a:srgbClr val="3F5FBF"/>
                </a:solidFill>
                <a:latin typeface="Consolas" panose="020B0609020204030204" pitchFamily="49" charset="0"/>
              </a:rPr>
              <a:t>     */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equals(Object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anObject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{…}</a:t>
            </a:r>
            <a:endParaRPr lang="en-US" sz="1600" dirty="0"/>
          </a:p>
        </p:txBody>
      </p:sp>
      <p:sp>
        <p:nvSpPr>
          <p:cNvPr id="6" name="Oval Callout 5"/>
          <p:cNvSpPr/>
          <p:nvPr/>
        </p:nvSpPr>
        <p:spPr>
          <a:xfrm>
            <a:off x="2209800" y="1600200"/>
            <a:ext cx="1676400" cy="1066800"/>
          </a:xfrm>
          <a:prstGeom prst="wedgeEllipseCallout">
            <a:avLst>
              <a:gd name="adj1" fmla="val -105050"/>
              <a:gd name="adj2" fmla="val 212073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Standard tag</a:t>
            </a:r>
            <a:endParaRPr lang="en-US" sz="2000" dirty="0"/>
          </a:p>
        </p:txBody>
      </p:sp>
      <p:sp>
        <p:nvSpPr>
          <p:cNvPr id="7" name="Oval Callout 6"/>
          <p:cNvSpPr/>
          <p:nvPr/>
        </p:nvSpPr>
        <p:spPr>
          <a:xfrm>
            <a:off x="6477000" y="1295400"/>
            <a:ext cx="1676400" cy="1066800"/>
          </a:xfrm>
          <a:prstGeom prst="wedgeEllipseCallout">
            <a:avLst>
              <a:gd name="adj1" fmla="val -86868"/>
              <a:gd name="adj2" fmla="val 148978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Inline tag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59168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See the full list here:</a:t>
            </a:r>
            <a:endParaRPr lang="en-US" dirty="0" smtClean="0">
              <a:hlinkClick r:id="rId2"/>
            </a:endParaRPr>
          </a:p>
          <a:p>
            <a:pPr lvl="1"/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docs.oracle.com/javase/8/docs/technotes/tools/unix/javadoc.html#CHDBEFIF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List of </a:t>
            </a:r>
            <a:r>
              <a:rPr lang="en-US" dirty="0" err="1"/>
              <a:t>JavaDoc</a:t>
            </a:r>
            <a:r>
              <a:rPr lang="en-US" dirty="0"/>
              <a:t> Tags</a:t>
            </a:r>
          </a:p>
        </p:txBody>
      </p:sp>
    </p:spTree>
    <p:extLst>
      <p:ext uri="{BB962C8B-B14F-4D97-AF65-F5344CB8AC3E}">
        <p14:creationId xmlns:p14="http://schemas.microsoft.com/office/powerpoint/2010/main" val="870449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@author name</a:t>
            </a:r>
          </a:p>
          <a:p>
            <a:pPr lvl="1"/>
            <a:r>
              <a:rPr lang="en-US" dirty="0"/>
              <a:t>Name one of the authors of this class</a:t>
            </a:r>
          </a:p>
          <a:p>
            <a:r>
              <a:rPr lang="en-US" dirty="0"/>
              <a:t>Use </a:t>
            </a:r>
            <a:r>
              <a:rPr lang="en-US" dirty="0" smtClean="0"/>
              <a:t>multiple </a:t>
            </a:r>
            <a:r>
              <a:rPr lang="en-US" dirty="0"/>
              <a:t>@author</a:t>
            </a:r>
            <a:r>
              <a:rPr lang="en-US" dirty="0" smtClean="0"/>
              <a:t> </a:t>
            </a:r>
            <a:r>
              <a:rPr lang="en-US" dirty="0"/>
              <a:t>tags if there are multiple authors</a:t>
            </a:r>
          </a:p>
          <a:p>
            <a:r>
              <a:rPr lang="en-US" dirty="0"/>
              <a:t>Used in: </a:t>
            </a:r>
            <a:r>
              <a:rPr lang="en-US" dirty="0" smtClean="0"/>
              <a:t>class</a:t>
            </a:r>
            <a:r>
              <a:rPr lang="en-US" dirty="0"/>
              <a:t>, </a:t>
            </a:r>
            <a:r>
              <a:rPr lang="en-US" dirty="0" smtClean="0"/>
              <a:t>interface, and method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@author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0" y="3352800"/>
            <a:ext cx="6248400" cy="30469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@author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 Lee Boynton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@author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 Arthur van Hoff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@author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 Martin Buchholz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@author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 Ulf </a:t>
            </a:r>
            <a:r>
              <a:rPr lang="en-US" sz="1600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Zibis</a:t>
            </a:r>
            <a:endParaRPr lang="en-US" sz="1600" b="1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>
                <a:solidFill>
                  <a:srgbClr val="7F9FBF"/>
                </a:solidFill>
                <a:latin typeface="Consolas" panose="020B0609020204030204" pitchFamily="49" charset="0"/>
              </a:rPr>
              <a:t>@</a:t>
            </a:r>
            <a:r>
              <a:rPr lang="en-US" sz="1600" b="1" smtClean="0">
                <a:solidFill>
                  <a:srgbClr val="7F9FBF"/>
                </a:solidFill>
                <a:latin typeface="Consolas" panose="020B0609020204030204" pitchFamily="49" charset="0"/>
              </a:rPr>
              <a:t>see</a:t>
            </a:r>
            <a:r>
              <a:rPr lang="en-US" sz="1600" b="1" smtClean="0">
                <a:solidFill>
                  <a:srgbClr val="3F5FBF"/>
                </a:solidFill>
                <a:latin typeface="Consolas" panose="020B0609020204030204" pitchFamily="49" charset="0"/>
              </a:rPr>
              <a:t>     java.lang.Object#toString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>
                <a:solidFill>
                  <a:srgbClr val="7F9FBF"/>
                </a:solidFill>
                <a:latin typeface="Consolas" panose="020B0609020204030204" pitchFamily="49" charset="0"/>
              </a:rPr>
              <a:t>@</a:t>
            </a:r>
            <a:r>
              <a:rPr lang="en-US" sz="1600" b="1" smtClean="0">
                <a:solidFill>
                  <a:srgbClr val="7F9FBF"/>
                </a:solidFill>
                <a:latin typeface="Consolas" panose="020B0609020204030204" pitchFamily="49" charset="0"/>
              </a:rPr>
              <a:t>see</a:t>
            </a:r>
            <a:r>
              <a:rPr lang="en-US" sz="1600" b="1" smtClean="0">
                <a:solidFill>
                  <a:srgbClr val="3F5FBF"/>
                </a:solidFill>
                <a:latin typeface="Consolas" panose="020B0609020204030204" pitchFamily="49" charset="0"/>
              </a:rPr>
              <a:t>     java.lang.StringBuffer</a:t>
            </a:r>
            <a:endParaRPr lang="en-US" sz="1600" b="1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>
                <a:solidFill>
                  <a:srgbClr val="7F9FBF"/>
                </a:solidFill>
                <a:latin typeface="Consolas" panose="020B0609020204030204" pitchFamily="49" charset="0"/>
              </a:rPr>
              <a:t>@</a:t>
            </a:r>
            <a:r>
              <a:rPr lang="en-US" sz="1600" b="1" smtClean="0">
                <a:solidFill>
                  <a:srgbClr val="7F9FBF"/>
                </a:solidFill>
                <a:latin typeface="Consolas" panose="020B0609020204030204" pitchFamily="49" charset="0"/>
              </a:rPr>
              <a:t>see</a:t>
            </a:r>
            <a:r>
              <a:rPr lang="en-US" sz="1600" b="1" smtClean="0">
                <a:solidFill>
                  <a:srgbClr val="3F5FBF"/>
                </a:solidFill>
                <a:latin typeface="Consolas" panose="020B0609020204030204" pitchFamily="49" charset="0"/>
              </a:rPr>
              <a:t>     java.lang.StringBuilder</a:t>
            </a:r>
            <a:endParaRPr lang="en-US" sz="1600" b="1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>
                <a:solidFill>
                  <a:srgbClr val="7F9FBF"/>
                </a:solidFill>
                <a:latin typeface="Consolas" panose="020B0609020204030204" pitchFamily="49" charset="0"/>
              </a:rPr>
              <a:t>@</a:t>
            </a:r>
            <a:r>
              <a:rPr lang="en-US" sz="1600" b="1" smtClean="0">
                <a:solidFill>
                  <a:srgbClr val="7F9FBF"/>
                </a:solidFill>
                <a:latin typeface="Consolas" panose="020B0609020204030204" pitchFamily="49" charset="0"/>
              </a:rPr>
              <a:t>see</a:t>
            </a:r>
            <a:r>
              <a:rPr lang="en-US" sz="1600" b="1" smtClean="0">
                <a:solidFill>
                  <a:srgbClr val="3F5FBF"/>
                </a:solidFill>
                <a:latin typeface="Consolas" panose="020B0609020204030204" pitchFamily="49" charset="0"/>
              </a:rPr>
              <a:t>     java.nio.charset.Charset</a:t>
            </a:r>
            <a:endParaRPr lang="en-US" sz="1600" b="1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@since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  JDK1.0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*/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String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87991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143000"/>
            <a:ext cx="8686798" cy="5562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Same </a:t>
            </a:r>
            <a:r>
              <a:rPr lang="en-US" dirty="0"/>
              <a:t>class entities</a:t>
            </a:r>
          </a:p>
          <a:p>
            <a:pPr lvl="1"/>
            <a:r>
              <a:rPr lang="en-US" dirty="0"/>
              <a:t>@see #field </a:t>
            </a:r>
          </a:p>
          <a:p>
            <a:pPr lvl="1"/>
            <a:r>
              <a:rPr lang="en-US" dirty="0"/>
              <a:t>@see #Constructor(Type,...) </a:t>
            </a:r>
          </a:p>
          <a:p>
            <a:pPr lvl="1"/>
            <a:r>
              <a:rPr lang="en-US" dirty="0"/>
              <a:t>@see #method(Type, Type,...) </a:t>
            </a:r>
          </a:p>
          <a:p>
            <a:r>
              <a:rPr lang="en-US" dirty="0" smtClean="0"/>
              <a:t>Same </a:t>
            </a:r>
            <a:r>
              <a:rPr lang="en-US" dirty="0"/>
              <a:t>package entities</a:t>
            </a:r>
          </a:p>
          <a:p>
            <a:pPr lvl="1"/>
            <a:r>
              <a:rPr lang="en-US" dirty="0"/>
              <a:t>@see Class </a:t>
            </a:r>
          </a:p>
          <a:p>
            <a:pPr lvl="1"/>
            <a:r>
              <a:rPr lang="en-US" dirty="0"/>
              <a:t>@see </a:t>
            </a:r>
            <a:r>
              <a:rPr lang="en-US" dirty="0" err="1"/>
              <a:t>Class#field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@see </a:t>
            </a:r>
            <a:r>
              <a:rPr lang="en-US" dirty="0" err="1"/>
              <a:t>Class#Constructor</a:t>
            </a:r>
            <a:r>
              <a:rPr lang="en-US" dirty="0"/>
              <a:t>(Type,...) </a:t>
            </a:r>
          </a:p>
          <a:p>
            <a:pPr lvl="1"/>
            <a:r>
              <a:rPr lang="en-US" dirty="0"/>
              <a:t>@see </a:t>
            </a:r>
            <a:r>
              <a:rPr lang="en-US" dirty="0" err="1"/>
              <a:t>Class#method</a:t>
            </a:r>
            <a:r>
              <a:rPr lang="en-US" dirty="0"/>
              <a:t>(Type,...)</a:t>
            </a:r>
          </a:p>
          <a:p>
            <a:r>
              <a:rPr lang="en-US" dirty="0"/>
              <a:t>D</a:t>
            </a:r>
            <a:r>
              <a:rPr lang="en-US" dirty="0" smtClean="0"/>
              <a:t>ifferent </a:t>
            </a:r>
            <a:r>
              <a:rPr lang="en-US" dirty="0"/>
              <a:t>package entities</a:t>
            </a:r>
          </a:p>
          <a:p>
            <a:pPr lvl="1"/>
            <a:r>
              <a:rPr lang="en-US" dirty="0"/>
              <a:t>@see package</a:t>
            </a:r>
          </a:p>
          <a:p>
            <a:pPr lvl="1"/>
            <a:r>
              <a:rPr lang="en-US" dirty="0"/>
              <a:t>@see </a:t>
            </a:r>
            <a:r>
              <a:rPr lang="en-US" dirty="0" err="1"/>
              <a:t>package.Class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@see </a:t>
            </a:r>
            <a:r>
              <a:rPr lang="en-US" dirty="0" err="1"/>
              <a:t>package.Class#field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@see </a:t>
            </a:r>
            <a:r>
              <a:rPr lang="en-US" dirty="0" err="1"/>
              <a:t>package.Class#Constructor</a:t>
            </a:r>
            <a:r>
              <a:rPr lang="en-US" dirty="0"/>
              <a:t>(Type,...) </a:t>
            </a:r>
          </a:p>
          <a:p>
            <a:pPr lvl="1"/>
            <a:r>
              <a:rPr lang="en-US" dirty="0"/>
              <a:t>@see </a:t>
            </a:r>
            <a:r>
              <a:rPr lang="en-US" dirty="0" err="1"/>
              <a:t>package.Class#method</a:t>
            </a:r>
            <a:r>
              <a:rPr lang="en-US" dirty="0"/>
              <a:t>(Type, Type,...) </a:t>
            </a:r>
          </a:p>
          <a:p>
            <a:r>
              <a:rPr lang="en-US" dirty="0" smtClean="0"/>
              <a:t>URL</a:t>
            </a:r>
            <a:endParaRPr lang="en-US" dirty="0"/>
          </a:p>
          <a:p>
            <a:pPr lvl="1"/>
            <a:r>
              <a:rPr lang="en-US" dirty="0"/>
              <a:t>@see &lt;a </a:t>
            </a:r>
            <a:r>
              <a:rPr lang="en-US" dirty="0" err="1"/>
              <a:t>href</a:t>
            </a:r>
            <a:r>
              <a:rPr lang="en-US" dirty="0"/>
              <a:t>="</a:t>
            </a:r>
            <a:r>
              <a:rPr lang="en-US" dirty="0" err="1"/>
              <a:t>spec.html#section</a:t>
            </a:r>
            <a:r>
              <a:rPr lang="en-US" dirty="0"/>
              <a:t>"&gt;Java Spec&lt;/a&gt;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@see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089400" y="1282005"/>
            <a:ext cx="5105400" cy="138499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</a:p>
          <a:p>
            <a:r>
              <a:rPr lang="en-US" sz="14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400" b="1" dirty="0">
                <a:solidFill>
                  <a:srgbClr val="7F9FBF"/>
                </a:solidFill>
                <a:latin typeface="Consolas" panose="020B0609020204030204" pitchFamily="49" charset="0"/>
              </a:rPr>
              <a:t>@see</a:t>
            </a:r>
            <a:r>
              <a:rPr lang="en-US" sz="1400" b="1" dirty="0">
                <a:solidFill>
                  <a:srgbClr val="3F5FBF"/>
                </a:solidFill>
                <a:latin typeface="Consolas" panose="020B0609020204030204" pitchFamily="49" charset="0"/>
              </a:rPr>
              <a:t> #equals(Object) </a:t>
            </a:r>
          </a:p>
          <a:p>
            <a:r>
              <a:rPr lang="en-US" sz="14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3F5FBF"/>
                </a:solidFill>
                <a:latin typeface="Consolas" panose="020B0609020204030204" pitchFamily="49" charset="0"/>
              </a:rPr>
              <a:t>* </a:t>
            </a:r>
            <a:r>
              <a:rPr lang="en-US" sz="1400" b="1" dirty="0">
                <a:solidFill>
                  <a:srgbClr val="7F9FBF"/>
                </a:solidFill>
                <a:latin typeface="Consolas" panose="020B0609020204030204" pitchFamily="49" charset="0"/>
              </a:rPr>
              <a:t>@see </a:t>
            </a:r>
            <a:r>
              <a:rPr lang="en-US" sz="1400" b="1" dirty="0" smtClean="0">
                <a:solidFill>
                  <a:srgbClr val="3F5FBF"/>
                </a:solidFill>
                <a:latin typeface="Consolas" panose="020B0609020204030204" pitchFamily="49" charset="0"/>
              </a:rPr>
              <a:t>#</a:t>
            </a:r>
            <a:r>
              <a:rPr lang="en-US" sz="1400" b="1" dirty="0">
                <a:solidFill>
                  <a:srgbClr val="3F5FBF"/>
                </a:solidFill>
                <a:latin typeface="Consolas" panose="020B0609020204030204" pitchFamily="49" charset="0"/>
              </a:rPr>
              <a:t>String(byte[], </a:t>
            </a:r>
            <a:r>
              <a:rPr lang="en-US" sz="1400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rgbClr val="3F5FB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b="1" dirty="0">
                <a:solidFill>
                  <a:srgbClr val="3F5FBF"/>
                </a:solidFill>
                <a:highlight>
                  <a:srgbClr val="E8F2FE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3F5FBF"/>
                </a:solidFill>
                <a:latin typeface="Consolas" panose="020B0609020204030204" pitchFamily="49" charset="0"/>
              </a:rPr>
              <a:t>* </a:t>
            </a:r>
            <a:r>
              <a:rPr lang="en-US" sz="1400" b="1" dirty="0">
                <a:solidFill>
                  <a:srgbClr val="7F9FBF"/>
                </a:solidFill>
                <a:latin typeface="Consolas" panose="020B0609020204030204" pitchFamily="49" charset="0"/>
              </a:rPr>
              <a:t>@see</a:t>
            </a:r>
            <a:r>
              <a:rPr lang="en-US" sz="1400" b="1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Object#equals</a:t>
            </a:r>
            <a:r>
              <a:rPr lang="en-US" sz="1400" b="1" dirty="0">
                <a:solidFill>
                  <a:srgbClr val="3F5FBF"/>
                </a:solidFill>
                <a:latin typeface="Consolas" panose="020B0609020204030204" pitchFamily="49" charset="0"/>
              </a:rPr>
              <a:t>(Object</a:t>
            </a:r>
            <a:r>
              <a:rPr lang="en-US" sz="1400" b="1" dirty="0" smtClean="0">
                <a:solidFill>
                  <a:srgbClr val="3F5FBF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b="1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 </a:t>
            </a:r>
            <a:r>
              <a:rPr lang="en-US" sz="1400" b="1" dirty="0">
                <a:solidFill>
                  <a:srgbClr val="7F9FBF"/>
                </a:solidFill>
                <a:latin typeface="Consolas" panose="020B0609020204030204" pitchFamily="49" charset="0"/>
              </a:rPr>
              <a:t>@see</a:t>
            </a:r>
            <a:r>
              <a:rPr lang="en-US" sz="1400" b="1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java.text.Collator#compare</a:t>
            </a:r>
            <a:r>
              <a:rPr lang="en-US" sz="1400" b="1" dirty="0">
                <a:solidFill>
                  <a:srgbClr val="3F5FBF"/>
                </a:solidFill>
                <a:latin typeface="Consolas" panose="020B0609020204030204" pitchFamily="49" charset="0"/>
              </a:rPr>
              <a:t>(String, String)</a:t>
            </a:r>
          </a:p>
          <a:p>
            <a:r>
              <a:rPr lang="en-US" sz="14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80351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param</a:t>
            </a:r>
            <a:r>
              <a:rPr lang="en-US" dirty="0"/>
              <a:t> &lt;name of parameter&gt; short description of parameter</a:t>
            </a:r>
          </a:p>
          <a:p>
            <a:pPr lvl="1"/>
            <a:r>
              <a:rPr lang="en-US" dirty="0"/>
              <a:t>Describe the named parameter to this method</a:t>
            </a:r>
          </a:p>
          <a:p>
            <a:pPr lvl="1"/>
            <a:r>
              <a:rPr lang="en-US" dirty="0"/>
              <a:t>Skip this tag if the method has no parameters</a:t>
            </a:r>
          </a:p>
          <a:p>
            <a:pPr lvl="1"/>
            <a:r>
              <a:rPr lang="en-US" dirty="0"/>
              <a:t>Used in: Method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@</a:t>
            </a:r>
            <a:r>
              <a:rPr lang="en-US" dirty="0" err="1"/>
              <a:t>param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3733800"/>
            <a:ext cx="8077200" cy="28007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/**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Replaces the element at the specified position in this list with the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specified 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element.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</a:t>
            </a:r>
            <a:r>
              <a:rPr lang="en-US" sz="1600" b="1" dirty="0" err="1">
                <a:solidFill>
                  <a:srgbClr val="7F9FBF"/>
                </a:solidFill>
                <a:latin typeface="Consolas" panose="020B0609020204030204" pitchFamily="49" charset="0"/>
              </a:rPr>
              <a:t>param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index </a:t>
            </a:r>
            <a:r>
              <a:rPr lang="en-US" sz="1600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index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of the element to replace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</a:t>
            </a:r>
            <a:r>
              <a:rPr lang="en-US" sz="1600" b="1" dirty="0" err="1">
                <a:solidFill>
                  <a:srgbClr val="7F9FBF"/>
                </a:solidFill>
                <a:latin typeface="Consolas" panose="020B0609020204030204" pitchFamily="49" charset="0"/>
              </a:rPr>
              <a:t>param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element </a:t>
            </a:r>
            <a:r>
              <a:rPr lang="en-US" sz="1600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element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to be stored at the specified position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@return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the element previously at the specified position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@throws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UnsupportedOperationException</a:t>
            </a:r>
            <a:r>
              <a:rPr lang="en-US" sz="1600" b="1" dirty="0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 if the </a:t>
            </a:r>
            <a:r>
              <a:rPr lang="en-US" sz="1600" b="1" dirty="0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&lt;</a:t>
            </a:r>
            <a:r>
              <a:rPr lang="en-US" sz="1600" b="1" dirty="0" err="1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tt</a:t>
            </a:r>
            <a:r>
              <a:rPr lang="en-US" sz="1600" b="1" dirty="0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&gt;</a:t>
            </a:r>
            <a:r>
              <a:rPr lang="en-US" sz="1600" b="1" dirty="0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set</a:t>
            </a:r>
            <a:r>
              <a:rPr lang="en-US" sz="1600" b="1" dirty="0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&lt;/</a:t>
            </a:r>
            <a:r>
              <a:rPr lang="en-US" sz="1600" b="1" dirty="0" err="1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tt</a:t>
            </a:r>
            <a:r>
              <a:rPr lang="en-US" sz="1600" b="1" dirty="0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&gt;</a:t>
            </a:r>
            <a:r>
              <a:rPr lang="en-US" sz="1600" b="1" dirty="0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 operation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       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is not supported by this list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*/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E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set(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index, E element);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33698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@return text</a:t>
            </a:r>
          </a:p>
          <a:p>
            <a:pPr lvl="1"/>
            <a:r>
              <a:rPr lang="en-US" dirty="0"/>
              <a:t>Describe the value returned by this method</a:t>
            </a:r>
          </a:p>
          <a:p>
            <a:pPr lvl="1"/>
            <a:r>
              <a:rPr lang="en-US" dirty="0"/>
              <a:t>Skip this tag if the method has no return value </a:t>
            </a:r>
          </a:p>
          <a:p>
            <a:pPr lvl="1"/>
            <a:r>
              <a:rPr lang="en-US" dirty="0"/>
              <a:t>Appears after @</a:t>
            </a:r>
            <a:r>
              <a:rPr lang="en-US" dirty="0" err="1"/>
              <a:t>param</a:t>
            </a:r>
            <a:r>
              <a:rPr lang="en-US" dirty="0"/>
              <a:t> tag(s)</a:t>
            </a:r>
          </a:p>
          <a:p>
            <a:pPr lvl="1"/>
            <a:r>
              <a:rPr lang="en-US" dirty="0"/>
              <a:t>Used in: Method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@return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400" y="3733800"/>
            <a:ext cx="8077200" cy="28007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/**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Replaces the element at the specified position in this list with the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specified 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element.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</a:t>
            </a:r>
            <a:r>
              <a:rPr lang="en-US" sz="1600" b="1" dirty="0" err="1">
                <a:solidFill>
                  <a:srgbClr val="7F9FBF"/>
                </a:solidFill>
                <a:latin typeface="Consolas" panose="020B0609020204030204" pitchFamily="49" charset="0"/>
              </a:rPr>
              <a:t>param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index </a:t>
            </a:r>
            <a:r>
              <a:rPr lang="en-US" sz="1600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index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of the element to replace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</a:t>
            </a:r>
            <a:r>
              <a:rPr lang="en-US" sz="1600" b="1" dirty="0" err="1">
                <a:solidFill>
                  <a:srgbClr val="7F9FBF"/>
                </a:solidFill>
                <a:latin typeface="Consolas" panose="020B0609020204030204" pitchFamily="49" charset="0"/>
              </a:rPr>
              <a:t>param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element </a:t>
            </a:r>
            <a:r>
              <a:rPr lang="en-US" sz="1600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element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to be stored at the specified position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@return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the element previously at the specified position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@throws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UnsupportedOperationException</a:t>
            </a:r>
            <a:r>
              <a:rPr lang="en-US" sz="1600" b="1" dirty="0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 if the </a:t>
            </a:r>
            <a:r>
              <a:rPr lang="en-US" sz="1600" b="1" dirty="0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&lt;</a:t>
            </a:r>
            <a:r>
              <a:rPr lang="en-US" sz="1600" b="1" dirty="0" err="1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tt</a:t>
            </a:r>
            <a:r>
              <a:rPr lang="en-US" sz="1600" b="1" dirty="0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&gt;</a:t>
            </a:r>
            <a:r>
              <a:rPr lang="en-US" sz="1600" b="1" dirty="0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set</a:t>
            </a:r>
            <a:r>
              <a:rPr lang="en-US" sz="1600" b="1" dirty="0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&lt;/</a:t>
            </a:r>
            <a:r>
              <a:rPr lang="en-US" sz="1600" b="1" dirty="0" err="1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tt</a:t>
            </a:r>
            <a:r>
              <a:rPr lang="en-US" sz="1600" b="1" dirty="0">
                <a:solidFill>
                  <a:srgbClr val="7F7F9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&gt;</a:t>
            </a:r>
            <a:r>
              <a:rPr lang="en-US" sz="1600" b="1" dirty="0">
                <a:solidFill>
                  <a:srgbClr val="3F5FBF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 operation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        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is not supported by this list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*/</a:t>
            </a:r>
            <a:endParaRPr lang="en-US" sz="1600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E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set(</a:t>
            </a:r>
            <a:r>
              <a:rPr lang="en-US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index, E element);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1556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use {@code} to insert 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@code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2438400"/>
            <a:ext cx="7696200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dirty="0">
                <a:solidFill>
                  <a:srgbClr val="7F7F9F"/>
                </a:solidFill>
                <a:latin typeface="Consolas" panose="020B0609020204030204" pitchFamily="49" charset="0"/>
              </a:rPr>
              <a:t>&lt;pre&gt;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{@code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    *   </a:t>
            </a:r>
            <a:r>
              <a:rPr lang="en-US" sz="1600" u="sng" dirty="0" err="1">
                <a:solidFill>
                  <a:srgbClr val="3F5FBF"/>
                </a:solidFill>
                <a:latin typeface="Consolas" panose="020B0609020204030204" pitchFamily="49" charset="0"/>
              </a:rPr>
              <a:t>int</a:t>
            </a:r>
            <a:r>
              <a:rPr lang="en-US" sz="1600" u="sng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sz="1600" u="sng" dirty="0" err="1">
                <a:solidFill>
                  <a:srgbClr val="3F5FBF"/>
                </a:solidFill>
                <a:latin typeface="Consolas" panose="020B0609020204030204" pitchFamily="49" charset="0"/>
              </a:rPr>
              <a:t>hashCode</a:t>
            </a:r>
            <a:r>
              <a:rPr lang="en-US" sz="1600" u="sng" dirty="0">
                <a:solidFill>
                  <a:srgbClr val="3F5FBF"/>
                </a:solidFill>
                <a:latin typeface="Consolas" panose="020B0609020204030204" pitchFamily="49" charset="0"/>
              </a:rPr>
              <a:t> = 1;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    *   for (E </a:t>
            </a:r>
            <a:r>
              <a:rPr lang="en-US" sz="1600" dirty="0" err="1">
                <a:solidFill>
                  <a:srgbClr val="3F5FBF"/>
                </a:solidFill>
                <a:latin typeface="Consolas" panose="020B0609020204030204" pitchFamily="49" charset="0"/>
              </a:rPr>
              <a:t>e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: list) {</a:t>
            </a:r>
          </a:p>
          <a:p>
            <a:r>
              <a:rPr lang="de-DE" sz="1600" dirty="0">
                <a:solidFill>
                  <a:srgbClr val="3F5FBF"/>
                </a:solidFill>
                <a:latin typeface="Consolas" panose="020B0609020204030204" pitchFamily="49" charset="0"/>
              </a:rPr>
              <a:t>     *      hashCode = 31*hashCode + (e==null ? 0 : e.hashCode());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    *   }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    * }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    * </a:t>
            </a:r>
            <a:r>
              <a:rPr lang="en-US" sz="1600" dirty="0">
                <a:solidFill>
                  <a:srgbClr val="7F7F9F"/>
                </a:solidFill>
                <a:latin typeface="Consolas" panose="020B0609020204030204" pitchFamily="49" charset="0"/>
              </a:rPr>
              <a:t>&lt;/pre&gt;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399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JavaDoc</a:t>
            </a:r>
            <a:r>
              <a:rPr lang="en-US" dirty="0" smtClean="0"/>
              <a:t> Convention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86400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dirty="0"/>
              <a:t>Documentation comments are recognized only when placed immediately before:</a:t>
            </a:r>
          </a:p>
          <a:p>
            <a:pPr lvl="1">
              <a:buSzPct val="75000"/>
            </a:pPr>
            <a:r>
              <a:rPr lang="en-US" dirty="0" smtClean="0"/>
              <a:t>Package</a:t>
            </a:r>
          </a:p>
          <a:p>
            <a:pPr lvl="1">
              <a:buSzPct val="75000"/>
            </a:pPr>
            <a:r>
              <a:rPr lang="en-US" dirty="0" smtClean="0"/>
              <a:t>Class</a:t>
            </a:r>
            <a:endParaRPr lang="en-US" dirty="0"/>
          </a:p>
          <a:p>
            <a:pPr lvl="1">
              <a:buSzPct val="75000"/>
            </a:pPr>
            <a:r>
              <a:rPr lang="en-US" dirty="0"/>
              <a:t>Interface</a:t>
            </a:r>
          </a:p>
          <a:p>
            <a:pPr lvl="1">
              <a:buSzPct val="75000"/>
            </a:pPr>
            <a:r>
              <a:rPr lang="en-US" dirty="0"/>
              <a:t>Constructor</a:t>
            </a:r>
          </a:p>
          <a:p>
            <a:pPr lvl="1">
              <a:buSzPct val="75000"/>
            </a:pPr>
            <a:r>
              <a:rPr lang="en-US" dirty="0"/>
              <a:t>Method</a:t>
            </a:r>
          </a:p>
          <a:p>
            <a:pPr lvl="1">
              <a:buSzPct val="75000"/>
            </a:pPr>
            <a:r>
              <a:rPr lang="en-US" dirty="0"/>
              <a:t>Field declarations </a:t>
            </a:r>
          </a:p>
          <a:p>
            <a:pPr>
              <a:buSzPct val="100000"/>
            </a:pPr>
            <a:r>
              <a:rPr lang="en-US" dirty="0"/>
              <a:t>Documentation comments placed in the body of a method are ignored</a:t>
            </a:r>
          </a:p>
          <a:p>
            <a:pPr>
              <a:buSzPct val="100000"/>
            </a:pPr>
            <a:r>
              <a:rPr lang="en-US" dirty="0"/>
              <a:t>Only one documentation comment per declaration statement is permitted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6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JavaDoc</a:t>
            </a:r>
            <a:r>
              <a:rPr lang="en-US" dirty="0"/>
              <a:t>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86400"/>
          </a:xfrm>
        </p:spPr>
        <p:txBody>
          <a:bodyPr>
            <a:normAutofit fontScale="92500" lnSpcReduction="10000"/>
          </a:bodyPr>
          <a:lstStyle/>
          <a:p>
            <a:pPr>
              <a:buSzPct val="100000"/>
            </a:pPr>
            <a:r>
              <a:rPr lang="en-US" dirty="0"/>
              <a:t>Package Tags</a:t>
            </a:r>
          </a:p>
          <a:p>
            <a:pPr lvl="1">
              <a:buSzPct val="75000"/>
            </a:pPr>
            <a:r>
              <a:rPr lang="en-US" dirty="0"/>
              <a:t>Appear in the documentation comment for a package </a:t>
            </a:r>
          </a:p>
          <a:p>
            <a:pPr lvl="1">
              <a:buSzPct val="75000"/>
            </a:pPr>
            <a:r>
              <a:rPr lang="en-US" dirty="0"/>
              <a:t>Resides in the source file named </a:t>
            </a:r>
            <a:r>
              <a:rPr lang="en-US" dirty="0" smtClean="0"/>
              <a:t>package.html</a:t>
            </a:r>
          </a:p>
          <a:p>
            <a:pPr lvl="1">
              <a:buSzPct val="75000"/>
            </a:pPr>
            <a:r>
              <a:rPr lang="en-US" dirty="0"/>
              <a:t>Package-level </a:t>
            </a:r>
            <a:r>
              <a:rPr lang="en-US" dirty="0" err="1" smtClean="0"/>
              <a:t>JavaDoc</a:t>
            </a:r>
            <a:r>
              <a:rPr lang="en-US" dirty="0" smtClean="0"/>
              <a:t> </a:t>
            </a:r>
            <a:r>
              <a:rPr lang="en-US" dirty="0"/>
              <a:t>comments are placed in a file named </a:t>
            </a:r>
            <a:r>
              <a:rPr lang="en-US" b="1" dirty="0"/>
              <a:t>package-info.java</a:t>
            </a:r>
            <a:r>
              <a:rPr lang="en-US" dirty="0"/>
              <a:t> inside the </a:t>
            </a:r>
            <a:r>
              <a:rPr lang="en-US" b="1" dirty="0" smtClean="0"/>
              <a:t>package</a:t>
            </a:r>
            <a:r>
              <a:rPr lang="en-US" dirty="0" smtClean="0"/>
              <a:t> </a:t>
            </a:r>
            <a:r>
              <a:rPr lang="en-US" dirty="0"/>
              <a:t>directory</a:t>
            </a:r>
          </a:p>
          <a:p>
            <a:pPr lvl="1">
              <a:buSzPct val="75000"/>
            </a:pPr>
            <a:r>
              <a:rPr lang="en-US" dirty="0"/>
              <a:t>Include:</a:t>
            </a:r>
          </a:p>
          <a:p>
            <a:pPr lvl="2">
              <a:buSzPct val="45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</a:rPr>
              <a:t>@see </a:t>
            </a:r>
          </a:p>
          <a:p>
            <a:pPr lvl="2">
              <a:buSzPct val="45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</a:rPr>
              <a:t>@since  </a:t>
            </a:r>
          </a:p>
          <a:p>
            <a:pPr lvl="2">
              <a:buSzPct val="45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</a:rPr>
              <a:t>@deprecated </a:t>
            </a:r>
          </a:p>
          <a:p>
            <a:pPr lvl="2">
              <a:buSzPct val="45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</a:rPr>
              <a:t>@serial </a:t>
            </a:r>
          </a:p>
          <a:p>
            <a:pPr lvl="2">
              <a:buSzPct val="45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</a:rPr>
              <a:t>@author </a:t>
            </a:r>
          </a:p>
          <a:p>
            <a:pPr lvl="2">
              <a:buSzPct val="45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</a:rPr>
              <a:t>@version </a:t>
            </a:r>
          </a:p>
          <a:p>
            <a:pPr lvl="2">
              <a:buSzPct val="45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</a:rPr>
              <a:t>{@link}  </a:t>
            </a:r>
          </a:p>
          <a:p>
            <a:pPr lvl="2">
              <a:buSzPct val="45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</a:rPr>
              <a:t>{@</a:t>
            </a:r>
            <a:r>
              <a:rPr lang="en-US" dirty="0" err="1">
                <a:solidFill>
                  <a:srgbClr val="00B0F0"/>
                </a:solidFill>
              </a:rPr>
              <a:t>linkplain</a:t>
            </a:r>
            <a:r>
              <a:rPr lang="en-US" dirty="0">
                <a:solidFill>
                  <a:srgbClr val="00B0F0"/>
                </a:solidFill>
              </a:rPr>
              <a:t>}  </a:t>
            </a:r>
          </a:p>
          <a:p>
            <a:pPr lvl="2">
              <a:buSzPct val="45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F0"/>
                </a:solidFill>
              </a:rPr>
              <a:t>{@</a:t>
            </a:r>
            <a:r>
              <a:rPr lang="en-US" dirty="0" err="1">
                <a:solidFill>
                  <a:srgbClr val="00B0F0"/>
                </a:solidFill>
              </a:rPr>
              <a:t>docRoot</a:t>
            </a:r>
            <a:r>
              <a:rPr lang="en-US" dirty="0">
                <a:solidFill>
                  <a:srgbClr val="00B0F0"/>
                </a:solidFill>
              </a:rPr>
              <a:t>}  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3447633"/>
            <a:ext cx="5867400" cy="28007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Domain classes used to produce the JSON and XML </a:t>
            </a:r>
            <a:endParaRPr lang="en-US" sz="1600" dirty="0" smtClean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 output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for the </a:t>
            </a:r>
            <a:r>
              <a:rPr lang="en-US" sz="1600" dirty="0" err="1">
                <a:solidFill>
                  <a:srgbClr val="3F5FBF"/>
                </a:solidFill>
                <a:latin typeface="Consolas" panose="020B0609020204030204" pitchFamily="49" charset="0"/>
              </a:rPr>
              <a:t>RESTful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services.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dirty="0">
                <a:solidFill>
                  <a:srgbClr val="7F7F9F"/>
                </a:solidFill>
                <a:latin typeface="Consolas" panose="020B0609020204030204" pitchFamily="49" charset="0"/>
              </a:rPr>
              <a:t>&lt;p&gt;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These classes contain the JAXB annotations.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@since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1.0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@author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sz="1600" b="1" u="sng" dirty="0" err="1">
                <a:solidFill>
                  <a:srgbClr val="3F5FBF"/>
                </a:solidFill>
                <a:latin typeface="Consolas" panose="020B0609020204030204" pitchFamily="49" charset="0"/>
              </a:rPr>
              <a:t>jwhite</a:t>
            </a:r>
            <a:endParaRPr lang="en-US" sz="1600" b="1" u="sng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 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@version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1.1</a:t>
            </a:r>
          </a:p>
          <a:p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*/</a:t>
            </a:r>
          </a:p>
          <a:p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package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com.intertech.cms.domain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1532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JavaDoc</a:t>
            </a:r>
            <a:r>
              <a:rPr lang="en-US" dirty="0"/>
              <a:t>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86400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dirty="0"/>
              <a:t>All public and protected methods </a:t>
            </a:r>
            <a:endParaRPr lang="en-US" dirty="0" smtClean="0"/>
          </a:p>
          <a:p>
            <a:pPr lvl="1">
              <a:buSzPct val="100000"/>
            </a:pPr>
            <a:r>
              <a:rPr lang="en-US" dirty="0" smtClean="0"/>
              <a:t>Should </a:t>
            </a:r>
            <a:r>
              <a:rPr lang="en-US" dirty="0"/>
              <a:t>be fully defined with Javadoc. </a:t>
            </a:r>
            <a:endParaRPr lang="en-US" dirty="0" smtClean="0"/>
          </a:p>
          <a:p>
            <a:pPr>
              <a:buSzPct val="100000"/>
            </a:pPr>
            <a:r>
              <a:rPr lang="en-US" dirty="0" smtClean="0"/>
              <a:t>Package </a:t>
            </a:r>
            <a:r>
              <a:rPr lang="en-US" dirty="0"/>
              <a:t>and private </a:t>
            </a:r>
            <a:r>
              <a:rPr lang="en-US" dirty="0" smtClean="0"/>
              <a:t>methods</a:t>
            </a:r>
          </a:p>
          <a:p>
            <a:pPr lvl="1">
              <a:buSzPct val="100000"/>
            </a:pPr>
            <a:r>
              <a:rPr lang="en-US" dirty="0" smtClean="0"/>
              <a:t>Do </a:t>
            </a:r>
            <a:r>
              <a:rPr lang="en-US" dirty="0"/>
              <a:t>not have to be, but may benefit from it. </a:t>
            </a:r>
          </a:p>
          <a:p>
            <a:pPr>
              <a:buSzPct val="100000"/>
            </a:pPr>
            <a:r>
              <a:rPr lang="en-US" dirty="0" smtClean="0"/>
              <a:t>Exceptions</a:t>
            </a:r>
          </a:p>
          <a:p>
            <a:pPr lvl="1">
              <a:buSzPct val="100000"/>
            </a:pPr>
            <a:r>
              <a:rPr lang="en-US" dirty="0" smtClean="0"/>
              <a:t>Document </a:t>
            </a:r>
            <a:r>
              <a:rPr lang="en-US" dirty="0"/>
              <a:t>the following exceptions with the @throws tag:</a:t>
            </a:r>
          </a:p>
          <a:p>
            <a:pPr lvl="2">
              <a:buSzPct val="75000"/>
            </a:pPr>
            <a:r>
              <a:rPr lang="en-US" dirty="0"/>
              <a:t>All checked </a:t>
            </a:r>
            <a:r>
              <a:rPr lang="en-US" dirty="0" smtClean="0"/>
              <a:t>exceptions</a:t>
            </a:r>
          </a:p>
          <a:p>
            <a:pPr lvl="2">
              <a:buSzPct val="75000"/>
            </a:pPr>
            <a:r>
              <a:rPr lang="en-US" dirty="0" smtClean="0"/>
              <a:t>Those </a:t>
            </a:r>
            <a:r>
              <a:rPr lang="en-US" dirty="0"/>
              <a:t>unchecked exceptions that the caller might reasonably want to </a:t>
            </a:r>
            <a:r>
              <a:rPr lang="en-US" dirty="0" smtClean="0"/>
              <a:t>catch</a:t>
            </a:r>
          </a:p>
        </p:txBody>
      </p:sp>
    </p:spTree>
    <p:extLst>
      <p:ext uri="{BB962C8B-B14F-4D97-AF65-F5344CB8AC3E}">
        <p14:creationId xmlns:p14="http://schemas.microsoft.com/office/powerpoint/2010/main" val="24199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JavaDoc</a:t>
            </a:r>
            <a:r>
              <a:rPr lang="en-US" dirty="0"/>
              <a:t> Convention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3040792"/>
              </p:ext>
            </p:extLst>
          </p:nvPr>
        </p:nvGraphicFramePr>
        <p:xfrm>
          <a:off x="216725" y="1151184"/>
          <a:ext cx="8763000" cy="5595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9222"/>
                <a:gridCol w="3050909"/>
                <a:gridCol w="3132869"/>
              </a:tblGrid>
              <a:tr h="47059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Tip</a:t>
                      </a:r>
                      <a:endParaRPr lang="en-US" sz="1600" dirty="0"/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Bad</a:t>
                      </a:r>
                      <a:endParaRPr lang="en-US" sz="1600" dirty="0"/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Good</a:t>
                      </a:r>
                      <a:endParaRPr lang="en-US" sz="1600" dirty="0"/>
                    </a:p>
                  </a:txBody>
                  <a:tcPr marL="82944" marR="82944" marT="41472" marB="41472"/>
                </a:tc>
              </a:tr>
              <a:tr h="1047942">
                <a:tc>
                  <a:txBody>
                    <a:bodyPr/>
                    <a:lstStyle/>
                    <a:p>
                      <a:pPr marL="0" marR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Method descriptions begin with a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verb phrase</a:t>
                      </a: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sz="1600" dirty="0"/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/**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lang="en-US" sz="16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This method causes a 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dance for  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joy to occur.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*/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/**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Dances for joy.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*/</a:t>
                      </a:r>
                    </a:p>
                  </a:txBody>
                  <a:tcPr marL="82944" marR="82944" marT="41472" marB="41472"/>
                </a:tc>
              </a:tr>
              <a:tr h="892055">
                <a:tc>
                  <a:txBody>
                    <a:bodyPr/>
                    <a:lstStyle/>
                    <a:p>
                      <a:pPr marL="0" marR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 3rd person</a:t>
                      </a: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(descriptive) not 2nd person (prescriptive).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/**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Get to the </a:t>
                      </a:r>
                      <a:r>
                        <a:rPr lang="en-US" sz="16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choppa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*/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/**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Get</a:t>
                      </a:r>
                      <a:r>
                        <a:rPr lang="en-US" sz="16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to the </a:t>
                      </a:r>
                      <a:r>
                        <a:rPr lang="en-US" sz="16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choppa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*/</a:t>
                      </a:r>
                    </a:p>
                  </a:txBody>
                  <a:tcPr marL="82944" marR="82944" marT="41472" marB="41472"/>
                </a:tc>
              </a:tr>
              <a:tr h="1047942">
                <a:tc>
                  <a:txBody>
                    <a:bodyPr/>
                    <a:lstStyle/>
                    <a:p>
                      <a:pPr marL="0" marR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Class/interface/field descriptions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omit the subject</a:t>
                      </a: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simply state the object.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/**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lang="en-US" sz="16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This field is a 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button label.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*/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/**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A button label.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*/</a:t>
                      </a:r>
                    </a:p>
                  </a:txBody>
                  <a:tcPr marL="82944" marR="82944" marT="41472" marB="41472"/>
                </a:tc>
              </a:tr>
              <a:tr h="1047942">
                <a:tc>
                  <a:txBody>
                    <a:bodyPr/>
                    <a:lstStyle/>
                    <a:p>
                      <a:pPr marL="0" marR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 "</a:t>
                      </a:r>
                      <a:r>
                        <a:rPr lang="en-US" sz="1600" b="1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</a:t>
                      </a: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 instead of "the" when referring to an object created from the current class.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/**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Gets the toolkit for </a:t>
                      </a:r>
                      <a:r>
                        <a:rPr lang="en-US" sz="16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component.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*/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/**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Gets the toolkit for </a:t>
                      </a:r>
                      <a:r>
                        <a:rPr lang="en-US" sz="16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this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component.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*/</a:t>
                      </a:r>
                    </a:p>
                  </a:txBody>
                  <a:tcPr marL="82944" marR="82944" marT="41472" marB="41472"/>
                </a:tc>
              </a:tr>
              <a:tr h="1047942">
                <a:tc>
                  <a:txBody>
                    <a:bodyPr/>
                    <a:lstStyle/>
                    <a:p>
                      <a:pPr marL="0" marR="0" indent="0" algn="l" defTabSz="1007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 the </a:t>
                      </a:r>
                      <a:r>
                        <a:rPr lang="en-US" sz="1600" b="1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active voice </a:t>
                      </a:r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whenever possible.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/**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lang="en-US" sz="16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Kiji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can </a:t>
                      </a:r>
                      <a:r>
                        <a:rPr lang="en-US" sz="16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be installed 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 running  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bin/</a:t>
                      </a:r>
                      <a:r>
                        <a:rPr lang="en-US" sz="16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kiji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install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*/</a:t>
                      </a:r>
                    </a:p>
                  </a:txBody>
                  <a:tcPr marL="82944" marR="82944" marT="41472" marB="41472"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/**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lang="en-US" sz="16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To install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Kiji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run bin/</a:t>
                      </a:r>
                      <a:r>
                        <a:rPr lang="en-US" sz="16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kiji</a:t>
                      </a:r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install </a:t>
                      </a:r>
                    </a:p>
                    <a:p>
                      <a:r>
                        <a:rPr lang="en-US" sz="16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*/</a:t>
                      </a:r>
                    </a:p>
                  </a:txBody>
                  <a:tcPr marL="82944" marR="82944" marT="41472" marB="41472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24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JavaDoc</a:t>
            </a:r>
            <a:r>
              <a:rPr lang="en-US" dirty="0"/>
              <a:t>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562600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dirty="0"/>
              <a:t> Never use @link in the first sentence. </a:t>
            </a:r>
          </a:p>
          <a:p>
            <a:pPr lvl="1">
              <a:buSzPct val="75000"/>
            </a:pPr>
            <a:r>
              <a:rPr lang="en-US" dirty="0" smtClean="0"/>
              <a:t>Always </a:t>
            </a:r>
            <a:r>
              <a:rPr lang="en-US" dirty="0"/>
              <a:t>use @code in the first sentence if necessary.</a:t>
            </a:r>
          </a:p>
          <a:p>
            <a:pPr lvl="1">
              <a:buSzPct val="75000"/>
            </a:pPr>
            <a:r>
              <a:rPr lang="en-US" dirty="0"/>
              <a:t>@link can be used from the second sentence/paragraph onwards. </a:t>
            </a:r>
          </a:p>
          <a:p>
            <a:pPr>
              <a:buSzPct val="100000"/>
            </a:pPr>
            <a:r>
              <a:rPr lang="en-US" dirty="0" smtClean="0"/>
              <a:t>Do </a:t>
            </a:r>
            <a:r>
              <a:rPr lang="en-US" dirty="0"/>
              <a:t>not use @code for null, true or false. </a:t>
            </a:r>
          </a:p>
          <a:p>
            <a:pPr>
              <a:buSzPct val="100000"/>
            </a:pPr>
            <a:r>
              <a:rPr lang="en-US" sz="2540" dirty="0"/>
              <a:t>Should use one blank line before @</a:t>
            </a:r>
            <a:r>
              <a:rPr lang="en-US" sz="2540" dirty="0" err="1" smtClean="0"/>
              <a:t>param</a:t>
            </a:r>
            <a:endParaRPr lang="en-US" sz="2540" dirty="0" smtClean="0"/>
          </a:p>
          <a:p>
            <a:pPr>
              <a:buSzPct val="100000"/>
            </a:pPr>
            <a:r>
              <a:rPr lang="en-US" sz="2540" dirty="0" smtClean="0"/>
              <a:t>Use </a:t>
            </a:r>
            <a:r>
              <a:rPr lang="en-US" sz="2540" dirty="0"/>
              <a:t>@</a:t>
            </a:r>
            <a:r>
              <a:rPr lang="en-US" sz="2540" dirty="0" err="1"/>
              <a:t>param</a:t>
            </a:r>
            <a:r>
              <a:rPr lang="en-US" sz="2540" dirty="0"/>
              <a:t> for generics.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8206" y="4444663"/>
            <a:ext cx="36403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808080"/>
                </a:solidFill>
              </a:rPr>
              <a:t>/**</a:t>
            </a:r>
            <a:br>
              <a:rPr lang="en-US" i="1" dirty="0">
                <a:solidFill>
                  <a:srgbClr val="808080"/>
                </a:solidFill>
              </a:rPr>
            </a:br>
            <a:r>
              <a:rPr lang="en-US" i="1" dirty="0">
                <a:solidFill>
                  <a:srgbClr val="808080"/>
                </a:solidFill>
              </a:rPr>
              <a:t> *  </a:t>
            </a:r>
            <a:r>
              <a:rPr lang="en-US" b="1" i="1" dirty="0" smtClean="0">
                <a:solidFill>
                  <a:srgbClr val="808080"/>
                </a:solidFill>
              </a:rPr>
              <a:t>@</a:t>
            </a:r>
            <a:r>
              <a:rPr lang="en-US" b="1" i="1" dirty="0" err="1" smtClean="0">
                <a:solidFill>
                  <a:srgbClr val="808080"/>
                </a:solidFill>
              </a:rPr>
              <a:t>param</a:t>
            </a:r>
            <a:r>
              <a:rPr lang="en-US" b="1" i="1" dirty="0" smtClean="0">
                <a:solidFill>
                  <a:srgbClr val="808080"/>
                </a:solidFill>
              </a:rPr>
              <a:t> </a:t>
            </a:r>
            <a:r>
              <a:rPr lang="en-US" b="1" i="1" dirty="0" smtClean="0"/>
              <a:t>&lt;T&gt;</a:t>
            </a:r>
            <a:r>
              <a:rPr lang="en-US" i="1" dirty="0" smtClean="0">
                <a:solidFill>
                  <a:srgbClr val="808080"/>
                </a:solidFill>
              </a:rPr>
              <a:t> some description</a:t>
            </a:r>
            <a:r>
              <a:rPr lang="en-US" i="1" dirty="0">
                <a:solidFill>
                  <a:srgbClr val="808080"/>
                </a:solidFill>
              </a:rPr>
              <a:t/>
            </a:r>
            <a:br>
              <a:rPr lang="en-US" i="1" dirty="0">
                <a:solidFill>
                  <a:srgbClr val="808080"/>
                </a:solidFill>
              </a:rPr>
            </a:br>
            <a:r>
              <a:rPr lang="en-US" i="1" dirty="0">
                <a:solidFill>
                  <a:srgbClr val="808080"/>
                </a:solidFill>
              </a:rPr>
              <a:t> */</a:t>
            </a:r>
            <a:br>
              <a:rPr lang="en-US" i="1" dirty="0">
                <a:solidFill>
                  <a:srgbClr val="808080"/>
                </a:solidFill>
              </a:rPr>
            </a:br>
            <a:r>
              <a:rPr lang="en-US" b="1" dirty="0">
                <a:solidFill>
                  <a:srgbClr val="000080"/>
                </a:solidFill>
              </a:rPr>
              <a:t>class </a:t>
            </a:r>
            <a:r>
              <a:rPr lang="en-US" dirty="0" err="1"/>
              <a:t>MyClass</a:t>
            </a:r>
            <a:r>
              <a:rPr lang="en-US" dirty="0"/>
              <a:t>&lt;</a:t>
            </a:r>
            <a:r>
              <a:rPr lang="en-US" dirty="0">
                <a:solidFill>
                  <a:srgbClr val="20999D"/>
                </a:solidFill>
              </a:rPr>
              <a:t>T</a:t>
            </a:r>
            <a:r>
              <a:rPr lang="en-US" dirty="0"/>
              <a:t>&gt; {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7800" y="4343400"/>
            <a:ext cx="327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808080"/>
                </a:solidFill>
              </a:rPr>
              <a:t>/**</a:t>
            </a:r>
            <a:br>
              <a:rPr lang="en-US" i="1" dirty="0">
                <a:solidFill>
                  <a:srgbClr val="808080"/>
                </a:solidFill>
              </a:rPr>
            </a:br>
            <a:r>
              <a:rPr lang="en-US" i="1" dirty="0">
                <a:solidFill>
                  <a:srgbClr val="808080"/>
                </a:solidFill>
              </a:rPr>
              <a:t> * </a:t>
            </a:r>
            <a:r>
              <a:rPr lang="en-US" i="1" dirty="0" smtClean="0">
                <a:solidFill>
                  <a:srgbClr val="808080"/>
                </a:solidFill>
              </a:rPr>
              <a:t> Saves an item to DB.</a:t>
            </a:r>
          </a:p>
          <a:p>
            <a:r>
              <a:rPr lang="en-US" i="1" dirty="0" smtClean="0">
                <a:solidFill>
                  <a:srgbClr val="808080"/>
                </a:solidFill>
              </a:rPr>
              <a:t> *</a:t>
            </a:r>
            <a:r>
              <a:rPr lang="en-US" i="1" dirty="0">
                <a:solidFill>
                  <a:srgbClr val="808080"/>
                </a:solidFill>
              </a:rPr>
              <a:t/>
            </a:r>
            <a:br>
              <a:rPr lang="en-US" i="1" dirty="0">
                <a:solidFill>
                  <a:srgbClr val="808080"/>
                </a:solidFill>
              </a:rPr>
            </a:br>
            <a:r>
              <a:rPr lang="en-US" i="1" dirty="0">
                <a:solidFill>
                  <a:srgbClr val="808080"/>
                </a:solidFill>
              </a:rPr>
              <a:t> * </a:t>
            </a:r>
            <a:r>
              <a:rPr lang="en-US" b="1" i="1" dirty="0">
                <a:solidFill>
                  <a:srgbClr val="808080"/>
                </a:solidFill>
              </a:rPr>
              <a:t>@</a:t>
            </a:r>
            <a:r>
              <a:rPr lang="en-US" b="1" i="1" dirty="0" err="1">
                <a:solidFill>
                  <a:srgbClr val="808080"/>
                </a:solidFill>
              </a:rPr>
              <a:t>param</a:t>
            </a:r>
            <a:r>
              <a:rPr lang="en-US" b="1" i="1" dirty="0">
                <a:solidFill>
                  <a:srgbClr val="808080"/>
                </a:solidFill>
              </a:rPr>
              <a:t> </a:t>
            </a:r>
            <a:r>
              <a:rPr lang="en-US" b="1" i="1" dirty="0" smtClean="0">
                <a:solidFill>
                  <a:srgbClr val="3D3D3D"/>
                </a:solidFill>
              </a:rPr>
              <a:t>item </a:t>
            </a:r>
            <a:r>
              <a:rPr lang="en-US" i="1" dirty="0" smtClean="0">
                <a:solidFill>
                  <a:srgbClr val="3D3D3D"/>
                </a:solidFill>
              </a:rPr>
              <a:t>the item to save</a:t>
            </a:r>
            <a:r>
              <a:rPr lang="en-US" b="1" i="1" dirty="0">
                <a:solidFill>
                  <a:srgbClr val="3D3D3D"/>
                </a:solidFill>
              </a:rPr>
              <a:t/>
            </a:r>
            <a:br>
              <a:rPr lang="en-US" b="1" i="1" dirty="0">
                <a:solidFill>
                  <a:srgbClr val="3D3D3D"/>
                </a:solidFill>
              </a:rPr>
            </a:br>
            <a:r>
              <a:rPr lang="en-US" b="1" i="1" dirty="0">
                <a:solidFill>
                  <a:srgbClr val="3D3D3D"/>
                </a:solidFill>
              </a:rPr>
              <a:t> </a:t>
            </a:r>
            <a:r>
              <a:rPr lang="en-US" i="1" dirty="0">
                <a:solidFill>
                  <a:srgbClr val="808080"/>
                </a:solidFill>
              </a:rPr>
              <a:t>* </a:t>
            </a:r>
            <a:r>
              <a:rPr lang="en-US" b="1" i="1" dirty="0">
                <a:solidFill>
                  <a:srgbClr val="808080"/>
                </a:solidFill>
              </a:rPr>
              <a:t>@</a:t>
            </a:r>
            <a:r>
              <a:rPr lang="en-US" b="1" i="1" dirty="0" err="1">
                <a:solidFill>
                  <a:srgbClr val="808080"/>
                </a:solidFill>
              </a:rPr>
              <a:t>param</a:t>
            </a:r>
            <a:r>
              <a:rPr lang="en-US" b="1" i="1" dirty="0">
                <a:solidFill>
                  <a:srgbClr val="808080"/>
                </a:solidFill>
              </a:rPr>
              <a:t> </a:t>
            </a:r>
            <a:r>
              <a:rPr lang="en-US" b="1" i="1" dirty="0">
                <a:solidFill>
                  <a:srgbClr val="3D3D3D"/>
                </a:solidFill>
              </a:rPr>
              <a:t>&lt;I</a:t>
            </a:r>
            <a:r>
              <a:rPr lang="en-US" b="1" i="1" dirty="0" smtClean="0">
                <a:solidFill>
                  <a:srgbClr val="3D3D3D"/>
                </a:solidFill>
              </a:rPr>
              <a:t>&gt; </a:t>
            </a:r>
            <a:r>
              <a:rPr lang="en-US" i="1" dirty="0" smtClean="0">
                <a:solidFill>
                  <a:srgbClr val="3D3D3D"/>
                </a:solidFill>
              </a:rPr>
              <a:t>type of the item</a:t>
            </a:r>
            <a:r>
              <a:rPr lang="en-US" b="1" i="1" dirty="0">
                <a:solidFill>
                  <a:srgbClr val="3D3D3D"/>
                </a:solidFill>
              </a:rPr>
              <a:t/>
            </a:r>
            <a:br>
              <a:rPr lang="en-US" b="1" i="1" dirty="0">
                <a:solidFill>
                  <a:srgbClr val="3D3D3D"/>
                </a:solidFill>
              </a:rPr>
            </a:br>
            <a:r>
              <a:rPr lang="en-US" b="1" i="1" dirty="0">
                <a:solidFill>
                  <a:srgbClr val="3D3D3D"/>
                </a:solidFill>
              </a:rPr>
              <a:t> </a:t>
            </a:r>
            <a:r>
              <a:rPr lang="en-US" i="1" dirty="0">
                <a:solidFill>
                  <a:srgbClr val="808080"/>
                </a:solidFill>
              </a:rPr>
              <a:t>*/</a:t>
            </a:r>
            <a:br>
              <a:rPr lang="en-US" i="1" dirty="0">
                <a:solidFill>
                  <a:srgbClr val="808080"/>
                </a:solidFill>
              </a:rPr>
            </a:br>
            <a:r>
              <a:rPr lang="en-US" b="1" dirty="0">
                <a:solidFill>
                  <a:srgbClr val="000080"/>
                </a:solidFill>
              </a:rPr>
              <a:t>private </a:t>
            </a:r>
            <a:r>
              <a:rPr lang="en-US" dirty="0"/>
              <a:t>&lt;</a:t>
            </a:r>
            <a:r>
              <a:rPr lang="en-US" dirty="0">
                <a:solidFill>
                  <a:srgbClr val="20999D"/>
                </a:solidFill>
              </a:rPr>
              <a:t>I</a:t>
            </a:r>
            <a:r>
              <a:rPr lang="en-US" dirty="0"/>
              <a:t>&gt; </a:t>
            </a:r>
            <a:r>
              <a:rPr lang="en-US" b="1" dirty="0">
                <a:solidFill>
                  <a:srgbClr val="000080"/>
                </a:solidFill>
              </a:rPr>
              <a:t>void </a:t>
            </a:r>
            <a:r>
              <a:rPr lang="en-US" dirty="0" smtClean="0"/>
              <a:t>save(</a:t>
            </a:r>
            <a:r>
              <a:rPr lang="en-US" dirty="0" smtClean="0">
                <a:solidFill>
                  <a:srgbClr val="20999D"/>
                </a:solidFill>
              </a:rPr>
              <a:t>I </a:t>
            </a:r>
            <a:r>
              <a:rPr lang="en-US" dirty="0"/>
              <a:t>item) {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72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JavaDoc</a:t>
            </a:r>
            <a:r>
              <a:rPr lang="en-US" dirty="0"/>
              <a:t>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562600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540" dirty="0" smtClean="0"/>
              <a:t>@</a:t>
            </a:r>
            <a:r>
              <a:rPr lang="en-US" sz="2540" dirty="0" err="1" smtClean="0"/>
              <a:t>param</a:t>
            </a:r>
            <a:r>
              <a:rPr lang="en-US" sz="2540" dirty="0" smtClean="0"/>
              <a:t> </a:t>
            </a:r>
            <a:r>
              <a:rPr lang="en-US" sz="2540" dirty="0"/>
              <a:t>and @</a:t>
            </a:r>
            <a:r>
              <a:rPr lang="en-US" sz="2540" dirty="0" smtClean="0"/>
              <a:t>return </a:t>
            </a:r>
            <a:endParaRPr lang="en-US" sz="2540" dirty="0"/>
          </a:p>
          <a:p>
            <a:pPr lvl="1">
              <a:buSzPct val="100000"/>
            </a:pPr>
            <a:r>
              <a:rPr lang="en-US" dirty="0" smtClean="0"/>
              <a:t>Should </a:t>
            </a:r>
            <a:r>
              <a:rPr lang="en-US" dirty="0"/>
              <a:t>be treated as </a:t>
            </a:r>
            <a:r>
              <a:rPr lang="en-US" dirty="0" smtClean="0"/>
              <a:t>phrases </a:t>
            </a:r>
            <a:r>
              <a:rPr lang="en-US" dirty="0"/>
              <a:t>rather than complete sentences. </a:t>
            </a:r>
            <a:endParaRPr lang="en-US" dirty="0" smtClean="0"/>
          </a:p>
          <a:p>
            <a:pPr lvl="1">
              <a:buSzPct val="100000"/>
            </a:pPr>
            <a:r>
              <a:rPr lang="en-US" dirty="0" smtClean="0"/>
              <a:t>They </a:t>
            </a:r>
            <a:r>
              <a:rPr lang="en-US" dirty="0"/>
              <a:t>should start with a lower case letter, </a:t>
            </a:r>
            <a:endParaRPr lang="en-US" dirty="0" smtClean="0"/>
          </a:p>
          <a:p>
            <a:pPr lvl="2">
              <a:buSzPct val="45000"/>
            </a:pPr>
            <a:r>
              <a:rPr lang="en-US" dirty="0" smtClean="0"/>
              <a:t>Typically </a:t>
            </a:r>
            <a:r>
              <a:rPr lang="en-US" dirty="0"/>
              <a:t>using the word "the". </a:t>
            </a:r>
            <a:endParaRPr lang="en-US" dirty="0" smtClean="0"/>
          </a:p>
          <a:p>
            <a:pPr lvl="1">
              <a:buSzPct val="100000"/>
            </a:pPr>
            <a:r>
              <a:rPr lang="en-US" dirty="0" smtClean="0"/>
              <a:t>They </a:t>
            </a:r>
            <a:r>
              <a:rPr lang="en-US" dirty="0"/>
              <a:t>should not end with a dot. 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4724400"/>
            <a:ext cx="8686800" cy="181588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 </a:t>
            </a:r>
            <a:r>
              <a:rPr lang="en-US" sz="1600" b="1" dirty="0" smtClean="0">
                <a:solidFill>
                  <a:srgbClr val="7F9FBF"/>
                </a:solidFill>
                <a:latin typeface="Consolas" panose="020B0609020204030204" pitchFamily="49" charset="0"/>
              </a:rPr>
              <a:t>@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return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smtClean="0">
                <a:solidFill>
                  <a:srgbClr val="7F7F9F"/>
                </a:solidFill>
                <a:latin typeface="Consolas" panose="020B0609020204030204" pitchFamily="49" charset="0"/>
              </a:rPr>
              <a:t>&lt;</a:t>
            </a:r>
            <a:r>
              <a:rPr lang="en-US" sz="1600" b="1" dirty="0">
                <a:solidFill>
                  <a:srgbClr val="7F7F9F"/>
                </a:solidFill>
                <a:latin typeface="Consolas" panose="020B0609020204030204" pitchFamily="49" charset="0"/>
              </a:rPr>
              <a:t>code&gt;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true</a:t>
            </a:r>
            <a:r>
              <a:rPr lang="en-US" sz="1600" b="1" dirty="0">
                <a:solidFill>
                  <a:srgbClr val="7F7F9F"/>
                </a:solidFill>
                <a:latin typeface="Consolas" panose="020B0609020204030204" pitchFamily="49" charset="0"/>
              </a:rPr>
              <a:t>&lt;/code&gt;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if the character sequence represented by the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         argument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is a prefix of the character sequence represented by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         this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string; 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false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otherwise.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       Note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also that 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true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will be returned if the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         argument 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is an empty string or is equal to this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         </a:t>
            </a:r>
            <a:r>
              <a:rPr lang="en-US" sz="1600" dirty="0" smtClean="0">
                <a:solidFill>
                  <a:srgbClr val="7F7F9F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7F7F9F"/>
                </a:solidFill>
                <a:latin typeface="Consolas" panose="020B0609020204030204" pitchFamily="49" charset="0"/>
              </a:rPr>
              <a:t>code&gt;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7F7F9F"/>
                </a:solidFill>
                <a:latin typeface="Consolas" panose="020B0609020204030204" pitchFamily="49" charset="0"/>
              </a:rPr>
              <a:t>&lt;/code&gt;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object as determined by the</a:t>
            </a: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         </a:t>
            </a:r>
            <a:r>
              <a:rPr lang="en-US" sz="1600" dirty="0" smtClean="0">
                <a:solidFill>
                  <a:srgbClr val="3F3FBF"/>
                </a:solidFill>
                <a:latin typeface="Consolas" panose="020B0609020204030204" pitchFamily="49" charset="0"/>
              </a:rPr>
              <a:t>{@</a:t>
            </a:r>
            <a:r>
              <a:rPr lang="en-US" sz="1600" dirty="0">
                <a:solidFill>
                  <a:srgbClr val="3F3FBF"/>
                </a:solidFill>
                <a:latin typeface="Consolas" panose="020B0609020204030204" pitchFamily="49" charset="0"/>
              </a:rPr>
              <a:t>link #equals(Object)}</a:t>
            </a:r>
            <a:r>
              <a:rPr lang="en-US" sz="1600" dirty="0">
                <a:solidFill>
                  <a:srgbClr val="3F5FB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method</a:t>
            </a:r>
            <a:endParaRPr lang="en-US" sz="1600" b="1" dirty="0">
              <a:solidFill>
                <a:srgbClr val="3F5FB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3436203"/>
            <a:ext cx="8686800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 </a:t>
            </a:r>
            <a:r>
              <a:rPr lang="en-US" sz="1600" b="1" dirty="0" smtClean="0">
                <a:solidFill>
                  <a:srgbClr val="7F9FBF"/>
                </a:solidFill>
                <a:latin typeface="Consolas" panose="020B0609020204030204" pitchFamily="49" charset="0"/>
              </a:rPr>
              <a:t>@</a:t>
            </a:r>
            <a:r>
              <a:rPr lang="en-US" sz="1600" b="1" dirty="0" err="1">
                <a:solidFill>
                  <a:srgbClr val="7F9FBF"/>
                </a:solidFill>
                <a:latin typeface="Consolas" panose="020B0609020204030204" pitchFamily="49" charset="0"/>
              </a:rPr>
              <a:t>param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index </a:t>
            </a:r>
            <a:r>
              <a:rPr lang="en-US" sz="1600" b="1" dirty="0" err="1">
                <a:solidFill>
                  <a:srgbClr val="3F5FBF"/>
                </a:solidFill>
                <a:latin typeface="Consolas" panose="020B0609020204030204" pitchFamily="49" charset="0"/>
              </a:rPr>
              <a:t>index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of the element to </a:t>
            </a:r>
            <a:r>
              <a:rPr lang="en-US" sz="1600" b="1" dirty="0" smtClean="0">
                <a:solidFill>
                  <a:srgbClr val="3F5FBF"/>
                </a:solidFill>
                <a:latin typeface="Consolas" panose="020B0609020204030204" pitchFamily="49" charset="0"/>
              </a:rPr>
              <a:t>return</a:t>
            </a:r>
          </a:p>
          <a:p>
            <a:r>
              <a:rPr lang="en-US" sz="1600" b="1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</a:t>
            </a:r>
            <a:endParaRPr lang="en-US" sz="1600" b="1" dirty="0">
              <a:solidFill>
                <a:srgbClr val="3F5FBF"/>
              </a:solidFill>
              <a:latin typeface="Consolas" panose="020B0609020204030204" pitchFamily="49" charset="0"/>
            </a:endParaRPr>
          </a:p>
          <a:p>
            <a:r>
              <a:rPr lang="en-US" sz="1600" dirty="0" smtClean="0">
                <a:solidFill>
                  <a:srgbClr val="3F5FBF"/>
                </a:solidFill>
                <a:latin typeface="Consolas" panose="020B0609020204030204" pitchFamily="49" charset="0"/>
              </a:rPr>
              <a:t>* </a:t>
            </a:r>
            <a:r>
              <a:rPr lang="en-US" sz="1600" b="1" dirty="0" smtClean="0">
                <a:solidFill>
                  <a:srgbClr val="7F9FBF"/>
                </a:solidFill>
                <a:latin typeface="Consolas" panose="020B0609020204030204" pitchFamily="49" charset="0"/>
              </a:rPr>
              <a:t>@</a:t>
            </a:r>
            <a:r>
              <a:rPr lang="en-US" sz="1600" b="1" dirty="0">
                <a:solidFill>
                  <a:srgbClr val="7F9FBF"/>
                </a:solidFill>
                <a:latin typeface="Consolas" panose="020B0609020204030204" pitchFamily="49" charset="0"/>
              </a:rPr>
              <a:t>return</a:t>
            </a:r>
            <a:r>
              <a:rPr lang="en-US" sz="1600" b="1" dirty="0">
                <a:solidFill>
                  <a:srgbClr val="3F5FBF"/>
                </a:solidFill>
                <a:latin typeface="Consolas" panose="020B0609020204030204" pitchFamily="49" charset="0"/>
              </a:rPr>
              <a:t> the element at the specified position in this </a:t>
            </a:r>
            <a:r>
              <a:rPr lang="en-US" sz="1600" b="1" dirty="0" smtClean="0">
                <a:solidFill>
                  <a:srgbClr val="3F5FBF"/>
                </a:solidFill>
                <a:latin typeface="Consolas" panose="020B0609020204030204" pitchFamily="49" charset="0"/>
              </a:rPr>
              <a:t>list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6096000" y="1981200"/>
            <a:ext cx="2667000" cy="1447800"/>
          </a:xfrm>
          <a:prstGeom prst="wedgeEllipseCallout">
            <a:avLst>
              <a:gd name="adj1" fmla="val -105536"/>
              <a:gd name="adj2" fmla="val 2352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 long description, it may include some sentences after the first phrase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23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JavaDoc</a:t>
            </a:r>
            <a:r>
              <a:rPr lang="en-US" dirty="0"/>
              <a:t>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562600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sz="2540" dirty="0" smtClean="0"/>
              <a:t>Treat </a:t>
            </a:r>
            <a:r>
              <a:rPr lang="en-US" sz="2540" dirty="0"/>
              <a:t>@throws as an if clause. </a:t>
            </a:r>
          </a:p>
          <a:p>
            <a:pPr lvl="1">
              <a:buSzPct val="100000"/>
            </a:pPr>
            <a:r>
              <a:rPr lang="en-US" dirty="0" smtClean="0"/>
              <a:t>The </a:t>
            </a:r>
            <a:r>
              <a:rPr lang="en-US" dirty="0"/>
              <a:t>@throws feature should normally be followed by "if" </a:t>
            </a:r>
            <a:endParaRPr lang="en-US" dirty="0" smtClean="0"/>
          </a:p>
          <a:p>
            <a:pPr lvl="1">
              <a:buSzPct val="100000"/>
            </a:pPr>
            <a:r>
              <a:rPr lang="en-US" dirty="0" smtClean="0"/>
              <a:t>the </a:t>
            </a:r>
            <a:r>
              <a:rPr lang="en-US" dirty="0"/>
              <a:t>rest of the phrase describing the condition. </a:t>
            </a:r>
            <a:endParaRPr lang="en-US" dirty="0" smtClean="0"/>
          </a:p>
          <a:p>
            <a:pPr lvl="1">
              <a:buSzPct val="100000"/>
            </a:pPr>
            <a:r>
              <a:rPr lang="en-US" dirty="0" err="1" smtClean="0"/>
              <a:t>E.g</a:t>
            </a:r>
            <a:r>
              <a:rPr lang="en-US" dirty="0" smtClean="0"/>
              <a:t>: </a:t>
            </a:r>
          </a:p>
          <a:p>
            <a:pPr marL="640013" lvl="2" indent="0">
              <a:buSzPct val="45000"/>
              <a:buNone/>
            </a:pPr>
            <a:r>
              <a:rPr lang="en-US" dirty="0" smtClean="0">
                <a:solidFill>
                  <a:srgbClr val="00B050"/>
                </a:solidFill>
              </a:rPr>
              <a:t>/**</a:t>
            </a:r>
          </a:p>
          <a:p>
            <a:pPr marL="640013" lvl="2" indent="0">
              <a:buSzPct val="45000"/>
              <a:buNone/>
            </a:pPr>
            <a:r>
              <a:rPr lang="en-US" dirty="0">
                <a:solidFill>
                  <a:srgbClr val="00B050"/>
                </a:solidFill>
              </a:rPr>
              <a:t> *</a:t>
            </a:r>
            <a:r>
              <a:rPr lang="en-US" dirty="0" smtClean="0">
                <a:solidFill>
                  <a:srgbClr val="92D050"/>
                </a:solidFill>
              </a:rPr>
              <a:t> </a:t>
            </a:r>
            <a:r>
              <a:rPr lang="en-US" dirty="0" smtClean="0">
                <a:solidFill>
                  <a:srgbClr val="00B0F0"/>
                </a:solidFill>
              </a:rPr>
              <a:t>@</a:t>
            </a:r>
            <a:r>
              <a:rPr lang="en-US" dirty="0">
                <a:solidFill>
                  <a:srgbClr val="00B0F0"/>
                </a:solidFill>
              </a:rPr>
              <a:t>throws </a:t>
            </a:r>
            <a:r>
              <a:rPr lang="en-US" dirty="0" smtClean="0">
                <a:solidFill>
                  <a:srgbClr val="00B0F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FileNotFoundException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if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the file could not be </a:t>
            </a:r>
            <a:r>
              <a:rPr lang="en-US" dirty="0" smtClean="0">
                <a:solidFill>
                  <a:srgbClr val="00B050"/>
                </a:solidFill>
              </a:rPr>
              <a:t>found</a:t>
            </a:r>
          </a:p>
          <a:p>
            <a:pPr marL="640013" lvl="2" indent="0">
              <a:buSzPct val="45000"/>
              <a:buNone/>
            </a:pP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*/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05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JavaDoc</a:t>
            </a:r>
            <a:r>
              <a:rPr lang="en-US" dirty="0"/>
              <a:t>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86400"/>
          </a:xfrm>
        </p:spPr>
        <p:txBody>
          <a:bodyPr>
            <a:normAutofit/>
          </a:bodyPr>
          <a:lstStyle/>
          <a:p>
            <a:pPr>
              <a:buSzPct val="100000"/>
            </a:pPr>
            <a:r>
              <a:rPr lang="en-US" dirty="0"/>
              <a:t>Define null-handling for all parameters and return types in the @</a:t>
            </a:r>
            <a:r>
              <a:rPr lang="en-US" dirty="0" err="1"/>
              <a:t>param</a:t>
            </a:r>
            <a:r>
              <a:rPr lang="en-US" dirty="0"/>
              <a:t> or @return</a:t>
            </a:r>
          </a:p>
          <a:p>
            <a:pPr lvl="1">
              <a:buSzPct val="100000"/>
            </a:pPr>
            <a:r>
              <a:rPr lang="en-US" sz="1814" dirty="0"/>
              <a:t>"</a:t>
            </a:r>
            <a:r>
              <a:rPr lang="en-US" sz="1814" b="1" dirty="0"/>
              <a:t>not null</a:t>
            </a:r>
            <a:r>
              <a:rPr lang="en-US" sz="1814" dirty="0"/>
              <a:t>" </a:t>
            </a:r>
            <a:endParaRPr lang="en-US" sz="1814" dirty="0" smtClean="0"/>
          </a:p>
          <a:p>
            <a:pPr lvl="2">
              <a:buSzPct val="100000"/>
            </a:pPr>
            <a:r>
              <a:rPr lang="en-US" sz="1414" dirty="0" smtClean="0"/>
              <a:t>Means </a:t>
            </a:r>
            <a:r>
              <a:rPr lang="en-US" sz="1414" dirty="0"/>
              <a:t>that null is not accepted and passing in null will probably throw an exception, typically </a:t>
            </a:r>
            <a:r>
              <a:rPr lang="en-US" sz="1414" dirty="0" err="1"/>
              <a:t>NullPointerException</a:t>
            </a:r>
            <a:endParaRPr lang="en-US" sz="1414" dirty="0"/>
          </a:p>
          <a:p>
            <a:pPr lvl="1">
              <a:buSzPct val="100000"/>
            </a:pPr>
            <a:r>
              <a:rPr lang="en-US" sz="1814" dirty="0"/>
              <a:t>"</a:t>
            </a:r>
            <a:r>
              <a:rPr lang="en-US" sz="1814" b="1" dirty="0"/>
              <a:t>may be </a:t>
            </a:r>
            <a:r>
              <a:rPr lang="en-US" sz="1814" b="1" dirty="0" smtClean="0"/>
              <a:t>null</a:t>
            </a:r>
            <a:r>
              <a:rPr lang="en-US" sz="1814" dirty="0" smtClean="0"/>
              <a:t>"</a:t>
            </a:r>
          </a:p>
          <a:p>
            <a:pPr lvl="2">
              <a:buSzPct val="100000"/>
            </a:pPr>
            <a:r>
              <a:rPr lang="en-US" sz="1414" dirty="0" smtClean="0"/>
              <a:t>Means </a:t>
            </a:r>
            <a:r>
              <a:rPr lang="en-US" sz="1414" dirty="0"/>
              <a:t>that null may be passed in.</a:t>
            </a:r>
          </a:p>
          <a:p>
            <a:pPr lvl="1">
              <a:buSzPct val="100000"/>
            </a:pPr>
            <a:r>
              <a:rPr lang="en-US" sz="1814" dirty="0"/>
              <a:t>"</a:t>
            </a:r>
            <a:r>
              <a:rPr lang="en-US" sz="1814" b="1" dirty="0"/>
              <a:t>null treated as xxx</a:t>
            </a:r>
            <a:r>
              <a:rPr lang="en-US" sz="1814" dirty="0"/>
              <a:t>" </a:t>
            </a:r>
            <a:endParaRPr lang="en-US" sz="1814" dirty="0" smtClean="0"/>
          </a:p>
          <a:p>
            <a:pPr lvl="2">
              <a:buSzPct val="100000"/>
            </a:pPr>
            <a:r>
              <a:rPr lang="en-US" sz="1414" dirty="0" smtClean="0"/>
              <a:t>Means </a:t>
            </a:r>
            <a:r>
              <a:rPr lang="en-US" sz="1414" dirty="0"/>
              <a:t>that a null input is equivalent to the specified value</a:t>
            </a:r>
          </a:p>
          <a:p>
            <a:pPr lvl="1">
              <a:buSzPct val="100000"/>
            </a:pPr>
            <a:r>
              <a:rPr lang="en-US" sz="1814" dirty="0"/>
              <a:t>"</a:t>
            </a:r>
            <a:r>
              <a:rPr lang="en-US" sz="1814" b="1" dirty="0"/>
              <a:t>null returns xxx</a:t>
            </a:r>
            <a:r>
              <a:rPr lang="en-US" sz="1814" dirty="0"/>
              <a:t>" </a:t>
            </a:r>
            <a:endParaRPr lang="en-US" sz="1814" dirty="0" smtClean="0"/>
          </a:p>
          <a:p>
            <a:pPr lvl="2">
              <a:buSzPct val="100000"/>
            </a:pPr>
            <a:r>
              <a:rPr lang="en-US" sz="1414" dirty="0" smtClean="0"/>
              <a:t>Means </a:t>
            </a:r>
            <a:r>
              <a:rPr lang="en-US" sz="1414" dirty="0"/>
              <a:t>that a null input always returns the specified value	</a:t>
            </a:r>
          </a:p>
          <a:p>
            <a:pPr>
              <a:buSzPct val="100000"/>
            </a:pPr>
            <a:r>
              <a:rPr lang="en-US" dirty="0"/>
              <a:t>Specifications require implementation notes </a:t>
            </a:r>
            <a:endParaRPr lang="en-US" dirty="0" smtClean="0"/>
          </a:p>
          <a:p>
            <a:pPr lvl="1">
              <a:buSzPct val="100000"/>
            </a:pPr>
            <a:r>
              <a:rPr lang="en-US" dirty="0" smtClean="0"/>
              <a:t>If </a:t>
            </a:r>
            <a:r>
              <a:rPr lang="en-US" dirty="0"/>
              <a:t>you are writing a more formal specification that will be implemented by third </a:t>
            </a:r>
            <a:r>
              <a:rPr lang="en-US" dirty="0" smtClean="0"/>
              <a:t>parties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912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JavaDoc</a:t>
            </a:r>
            <a:r>
              <a:rPr lang="en-US" dirty="0"/>
              <a:t>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19360"/>
            <a:ext cx="8686800" cy="5510040"/>
          </a:xfrm>
        </p:spPr>
        <p:txBody>
          <a:bodyPr>
            <a:normAutofit lnSpcReduction="10000"/>
          </a:bodyPr>
          <a:lstStyle/>
          <a:p>
            <a:pPr>
              <a:buSzPct val="100000"/>
            </a:pPr>
            <a:r>
              <a:rPr lang="en-US" dirty="0" smtClean="0"/>
              <a:t>Document anonymous classes</a:t>
            </a:r>
          </a:p>
          <a:p>
            <a:pPr lvl="1">
              <a:buSzPct val="100000"/>
            </a:pPr>
            <a:r>
              <a:rPr lang="en-US" dirty="0" smtClean="0"/>
              <a:t>In doc comment </a:t>
            </a:r>
            <a:r>
              <a:rPr lang="en-US" dirty="0"/>
              <a:t>of its outer class, </a:t>
            </a:r>
            <a:endParaRPr lang="en-US" dirty="0" smtClean="0"/>
          </a:p>
          <a:p>
            <a:pPr lvl="1">
              <a:buSzPct val="100000"/>
            </a:pPr>
            <a:r>
              <a:rPr lang="en-US" dirty="0" smtClean="0"/>
              <a:t>Or </a:t>
            </a:r>
            <a:r>
              <a:rPr lang="en-US" dirty="0"/>
              <a:t>another closely associated </a:t>
            </a:r>
            <a:r>
              <a:rPr lang="en-US" dirty="0" smtClean="0"/>
              <a:t>class</a:t>
            </a:r>
            <a:endParaRPr lang="en-US" dirty="0"/>
          </a:p>
          <a:p>
            <a:pPr marL="0" indent="0">
              <a:buSzPct val="45000"/>
              <a:buNone/>
            </a:pPr>
            <a:r>
              <a:rPr lang="en-US" dirty="0" err="1" smtClean="0"/>
              <a:t>E.g</a:t>
            </a:r>
            <a:r>
              <a:rPr lang="en-US" dirty="0" smtClean="0"/>
              <a:t>:</a:t>
            </a:r>
            <a:endParaRPr lang="en-US" dirty="0"/>
          </a:p>
          <a:p>
            <a:pPr marL="594298" lvl="2" indent="0">
              <a:buSzPct val="45000"/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00B050"/>
                </a:solidFill>
              </a:rPr>
              <a:t>/**</a:t>
            </a:r>
          </a:p>
          <a:p>
            <a:pPr marL="594298" lvl="2" indent="0">
              <a:buSzPct val="45000"/>
              <a:buNone/>
            </a:pPr>
            <a:r>
              <a:rPr lang="en-US" dirty="0">
                <a:solidFill>
                  <a:srgbClr val="00B050"/>
                </a:solidFill>
              </a:rPr>
              <a:t>     * The method used for creating the tree. Any structural </a:t>
            </a:r>
          </a:p>
          <a:p>
            <a:pPr marL="594298" lvl="2" indent="0">
              <a:buSzPct val="45000"/>
              <a:buNone/>
            </a:pPr>
            <a:r>
              <a:rPr lang="en-US" dirty="0">
                <a:solidFill>
                  <a:srgbClr val="00B050"/>
                </a:solidFill>
              </a:rPr>
              <a:t>     * modifications to the display of the </a:t>
            </a:r>
            <a:r>
              <a:rPr lang="en-US" dirty="0" err="1">
                <a:solidFill>
                  <a:srgbClr val="00B050"/>
                </a:solidFill>
              </a:rPr>
              <a:t>Jtree</a:t>
            </a:r>
            <a:r>
              <a:rPr lang="en-US" dirty="0">
                <a:solidFill>
                  <a:srgbClr val="00B050"/>
                </a:solidFill>
              </a:rPr>
              <a:t> should be done </a:t>
            </a:r>
          </a:p>
          <a:p>
            <a:pPr marL="594298" lvl="2" indent="0">
              <a:buSzPct val="45000"/>
              <a:buNone/>
            </a:pPr>
            <a:r>
              <a:rPr lang="en-US" dirty="0">
                <a:solidFill>
                  <a:srgbClr val="00B050"/>
                </a:solidFill>
              </a:rPr>
              <a:t>     * by overriding this method.</a:t>
            </a:r>
          </a:p>
          <a:p>
            <a:pPr marL="594298" lvl="2" indent="0">
              <a:buSzPct val="45000"/>
              <a:buNone/>
            </a:pPr>
            <a:r>
              <a:rPr lang="en-US" dirty="0">
                <a:solidFill>
                  <a:srgbClr val="00B050"/>
                </a:solidFill>
              </a:rPr>
              <a:t>     * &lt;p&gt;</a:t>
            </a:r>
          </a:p>
          <a:p>
            <a:pPr marL="594298" lvl="2" indent="0">
              <a:buSzPct val="45000"/>
              <a:buNone/>
            </a:pPr>
            <a:r>
              <a:rPr lang="en-US" dirty="0">
                <a:solidFill>
                  <a:srgbClr val="00B050"/>
                </a:solidFill>
              </a:rPr>
              <a:t>     * This method adds an anonymous </a:t>
            </a:r>
            <a:r>
              <a:rPr lang="en-US" b="1" dirty="0" err="1">
                <a:solidFill>
                  <a:srgbClr val="00B050"/>
                </a:solidFill>
              </a:rPr>
              <a:t>TreeSelectionListener</a:t>
            </a:r>
            <a:r>
              <a:rPr lang="en-US" dirty="0">
                <a:solidFill>
                  <a:srgbClr val="00B050"/>
                </a:solidFill>
              </a:rPr>
              <a:t> to </a:t>
            </a:r>
          </a:p>
          <a:p>
            <a:pPr marL="594298" lvl="2" indent="0">
              <a:buSzPct val="45000"/>
              <a:buNone/>
            </a:pPr>
            <a:r>
              <a:rPr lang="en-US" dirty="0">
                <a:solidFill>
                  <a:srgbClr val="00B050"/>
                </a:solidFill>
              </a:rPr>
              <a:t>     * the returned </a:t>
            </a:r>
            <a:r>
              <a:rPr lang="en-US" dirty="0" err="1">
                <a:solidFill>
                  <a:srgbClr val="00B050"/>
                </a:solidFill>
              </a:rPr>
              <a:t>JTree</a:t>
            </a:r>
            <a:r>
              <a:rPr lang="en-US" dirty="0">
                <a:solidFill>
                  <a:srgbClr val="00B050"/>
                </a:solidFill>
              </a:rPr>
              <a:t>.  Upon receiving </a:t>
            </a:r>
            <a:r>
              <a:rPr lang="en-US" dirty="0" err="1">
                <a:solidFill>
                  <a:srgbClr val="00B050"/>
                </a:solidFill>
              </a:rPr>
              <a:t>TreeSelectionEvents</a:t>
            </a:r>
            <a:r>
              <a:rPr lang="en-US" dirty="0">
                <a:solidFill>
                  <a:srgbClr val="00B050"/>
                </a:solidFill>
              </a:rPr>
              <a:t>, </a:t>
            </a:r>
          </a:p>
          <a:p>
            <a:pPr marL="594298" lvl="2" indent="0">
              <a:buSzPct val="45000"/>
              <a:buNone/>
            </a:pPr>
            <a:r>
              <a:rPr lang="en-US" dirty="0">
                <a:solidFill>
                  <a:srgbClr val="00B050"/>
                </a:solidFill>
              </a:rPr>
              <a:t>     * this listener calls refresh with the selected node as a </a:t>
            </a:r>
          </a:p>
          <a:p>
            <a:pPr marL="594298" lvl="2" indent="0">
              <a:buSzPct val="45000"/>
              <a:buNone/>
            </a:pPr>
            <a:r>
              <a:rPr lang="en-US" dirty="0">
                <a:solidFill>
                  <a:srgbClr val="00B050"/>
                </a:solidFill>
              </a:rPr>
              <a:t>     * parameter. </a:t>
            </a:r>
          </a:p>
          <a:p>
            <a:pPr marL="594298" lvl="2" indent="0">
              <a:buSzPct val="45000"/>
              <a:buNone/>
            </a:pPr>
            <a:r>
              <a:rPr lang="en-US" dirty="0">
                <a:solidFill>
                  <a:srgbClr val="00B050"/>
                </a:solidFill>
              </a:rPr>
              <a:t>     */</a:t>
            </a:r>
          </a:p>
          <a:p>
            <a:pPr marL="594298" lvl="2" indent="0">
              <a:buSzPct val="45000"/>
              <a:buNone/>
            </a:pPr>
            <a:r>
              <a:rPr lang="en-US" dirty="0"/>
              <a:t>    public </a:t>
            </a:r>
            <a:r>
              <a:rPr lang="en-US" dirty="0" err="1"/>
              <a:t>JTree</a:t>
            </a:r>
            <a:r>
              <a:rPr lang="en-US" dirty="0"/>
              <a:t> </a:t>
            </a:r>
            <a:r>
              <a:rPr lang="en-US" dirty="0" err="1"/>
              <a:t>makeTree</a:t>
            </a:r>
            <a:r>
              <a:rPr lang="en-US" dirty="0"/>
              <a:t>(</a:t>
            </a:r>
            <a:r>
              <a:rPr lang="en-US" dirty="0" err="1"/>
              <a:t>AreaInfo</a:t>
            </a:r>
            <a:r>
              <a:rPr lang="en-US" dirty="0"/>
              <a:t> </a:t>
            </a:r>
            <a:r>
              <a:rPr lang="en-US" dirty="0" err="1"/>
              <a:t>ai</a:t>
            </a:r>
            <a:r>
              <a:rPr lang="en-US" dirty="0"/>
              <a:t>){    </a:t>
            </a:r>
            <a:r>
              <a:rPr lang="en-US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16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 noGrp="1" noChangeArrowheads="1"/>
          </p:cNvSpPr>
          <p:nvPr>
            <p:ph type="title"/>
          </p:nvPr>
        </p:nvSpPr>
        <p:spPr>
          <a:xfrm>
            <a:off x="480961" y="207721"/>
            <a:ext cx="8228160" cy="763200"/>
          </a:xfrm>
        </p:spPr>
        <p:txBody>
          <a:bodyPr vert="horz" lIns="91440" tIns="28802" rIns="91440" bIns="45720" rtlCol="0" anchor="ctr">
            <a:normAutofit/>
          </a:bodyPr>
          <a:lstStyle/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US" altLang="en-US" dirty="0" smtClean="0"/>
              <a:t>References</a:t>
            </a:r>
          </a:p>
        </p:txBody>
      </p:sp>
      <p:sp>
        <p:nvSpPr>
          <p:cNvPr id="87043" name="Rectangle 2"/>
          <p:cNvSpPr>
            <a:spLocks noGrp="1" noChangeArrowheads="1"/>
          </p:cNvSpPr>
          <p:nvPr>
            <p:ph idx="1"/>
          </p:nvPr>
        </p:nvSpPr>
        <p:spPr>
          <a:xfrm>
            <a:off x="456481" y="1244521"/>
            <a:ext cx="8228160" cy="4885920"/>
          </a:xfrm>
        </p:spPr>
        <p:txBody>
          <a:bodyPr/>
          <a:lstStyle/>
          <a:p>
            <a:pPr marL="555122" indent="-457200">
              <a:buSzPct val="100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US" b="1" dirty="0">
                <a:hlinkClick r:id="rId3"/>
              </a:rPr>
              <a:t>How to Write Doc Comments for the </a:t>
            </a:r>
            <a:r>
              <a:rPr lang="en-US" b="1" dirty="0" err="1">
                <a:hlinkClick r:id="rId3"/>
              </a:rPr>
              <a:t>Javadoc</a:t>
            </a:r>
            <a:r>
              <a:rPr lang="en-US" b="1" dirty="0">
                <a:hlinkClick r:id="rId3"/>
              </a:rPr>
              <a:t> </a:t>
            </a:r>
            <a:r>
              <a:rPr lang="en-US" b="1" dirty="0" smtClean="0">
                <a:hlinkClick r:id="rId3"/>
              </a:rPr>
              <a:t>Tool</a:t>
            </a:r>
            <a:endParaRPr lang="en-US" b="1" dirty="0" smtClean="0"/>
          </a:p>
          <a:p>
            <a:pPr marL="555122" lvl="1" indent="-457200">
              <a:buSzPct val="100000"/>
              <a:buFont typeface="Wingdings" pitchFamily="2" charset="2"/>
              <a:buChar char="v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US" b="1" dirty="0">
                <a:hlinkClick r:id="rId4"/>
              </a:rPr>
              <a:t>http://</a:t>
            </a:r>
            <a:r>
              <a:rPr lang="en-US" b="1" dirty="0" smtClean="0">
                <a:hlinkClick r:id="rId4"/>
              </a:rPr>
              <a:t>docs.oracle.com/javase/8/docs/technotes/tools/unix/javadoc.html#CHDBEFIF</a:t>
            </a:r>
            <a:endParaRPr lang="en-US" b="1" dirty="0" smtClean="0">
              <a:hlinkClick r:id="rId4"/>
            </a:endParaRPr>
          </a:p>
          <a:p>
            <a:pPr marL="555122" indent="-457200">
              <a:buSzPct val="100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US" b="1" dirty="0" smtClean="0">
                <a:hlinkClick r:id="rId4"/>
              </a:rPr>
              <a:t>JavaDoc </a:t>
            </a:r>
            <a:r>
              <a:rPr lang="en-US" b="1" dirty="0" smtClean="0">
                <a:hlinkClick r:id="rId4"/>
              </a:rPr>
              <a:t>tags</a:t>
            </a:r>
            <a:endParaRPr lang="en-US" b="1" dirty="0" smtClean="0"/>
          </a:p>
          <a:p>
            <a:pPr marL="555122" indent="-457200">
              <a:buSzPct val="100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endParaRPr lang="en-US" b="1" dirty="0" smtClean="0"/>
          </a:p>
          <a:p>
            <a:pPr marL="555122" indent="-457200">
              <a:buSzPct val="100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endParaRPr lang="en-US" b="1" dirty="0"/>
          </a:p>
          <a:p>
            <a:pPr marL="391686" indent="-293764">
              <a:buClr>
                <a:srgbClr val="FFCC99"/>
              </a:buClr>
              <a:buSzPct val="100000"/>
              <a:buFont typeface="Wingdings" panose="05000000000000000000" pitchFamily="2" charset="2"/>
              <a:buChar char="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898571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"/>
          <p:cNvSpPr>
            <a:spLocks noGrp="1" noChangeArrowheads="1"/>
          </p:cNvSpPr>
          <p:nvPr>
            <p:ph type="title"/>
          </p:nvPr>
        </p:nvSpPr>
        <p:spPr>
          <a:xfrm>
            <a:off x="480961" y="3110761"/>
            <a:ext cx="8228160" cy="763200"/>
          </a:xfrm>
        </p:spPr>
        <p:txBody>
          <a:bodyPr vert="horz" lIns="91440" tIns="28802" rIns="91440" bIns="45720" rtlCol="0" anchor="ctr">
            <a:normAutofit/>
          </a:bodyPr>
          <a:lstStyle/>
          <a:p>
            <a:pPr>
              <a:buSzPct val="45000"/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US" altLang="en-US" dirty="0" smtClean="0"/>
              <a:t>Thank you!</a:t>
            </a:r>
          </a:p>
        </p:txBody>
      </p:sp>
      <p:sp>
        <p:nvSpPr>
          <p:cNvPr id="3" name="Rectangle 1"/>
          <p:cNvSpPr txBox="1">
            <a:spLocks noChangeArrowheads="1"/>
          </p:cNvSpPr>
          <p:nvPr/>
        </p:nvSpPr>
        <p:spPr>
          <a:xfrm>
            <a:off x="480961" y="207721"/>
            <a:ext cx="8228160" cy="763200"/>
          </a:xfrm>
          <a:prstGeom prst="rect">
            <a:avLst/>
          </a:prstGeom>
        </p:spPr>
        <p:txBody>
          <a:bodyPr vert="horz" lIns="91440" tIns="28802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6650" algn="l"/>
                <a:tab pos="1313299" algn="l"/>
                <a:tab pos="1969949" algn="l"/>
                <a:tab pos="2626599" algn="l"/>
                <a:tab pos="3283248" algn="l"/>
                <a:tab pos="3939898" algn="l"/>
                <a:tab pos="4596548" algn="l"/>
                <a:tab pos="5253198" algn="l"/>
                <a:tab pos="5909847" algn="l"/>
                <a:tab pos="6566497" algn="l"/>
                <a:tab pos="7223147" algn="l"/>
                <a:tab pos="7879796" algn="l"/>
              </a:tabLst>
            </a:pPr>
            <a:r>
              <a:rPr lang="en-US" altLang="en-US" dirty="0" smtClean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26981685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6683</TotalTime>
  <Words>1867</Words>
  <Application>Microsoft Macintosh PowerPoint</Application>
  <PresentationFormat>On-screen Show (4:3)</PresentationFormat>
  <Paragraphs>340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 Unicode MS</vt:lpstr>
      <vt:lpstr>Calibri</vt:lpstr>
      <vt:lpstr>Consolas</vt:lpstr>
      <vt:lpstr>Courier New</vt:lpstr>
      <vt:lpstr>Impact</vt:lpstr>
      <vt:lpstr>ＭＳ Ｐゴシック</vt:lpstr>
      <vt:lpstr>Times New Roman</vt:lpstr>
      <vt:lpstr>Wingdings</vt:lpstr>
      <vt:lpstr>Arial</vt:lpstr>
      <vt:lpstr>Office Theme</vt:lpstr>
      <vt:lpstr>PowerPoint Presentation</vt:lpstr>
      <vt:lpstr>Agenda</vt:lpstr>
      <vt:lpstr>What is JavaDoc?</vt:lpstr>
      <vt:lpstr>JavaDoc Comments</vt:lpstr>
      <vt:lpstr>JavaDoc Comments</vt:lpstr>
      <vt:lpstr>JavaDoc Comments</vt:lpstr>
      <vt:lpstr>JavaDoc tags</vt:lpstr>
      <vt:lpstr>JavaDoc tags</vt:lpstr>
      <vt:lpstr>JavaDoc Tags</vt:lpstr>
      <vt:lpstr>List of JavaDoc Tags</vt:lpstr>
      <vt:lpstr>@author</vt:lpstr>
      <vt:lpstr>@see</vt:lpstr>
      <vt:lpstr>@param</vt:lpstr>
      <vt:lpstr>@return</vt:lpstr>
      <vt:lpstr>@code</vt:lpstr>
      <vt:lpstr>JavaDoc Convention</vt:lpstr>
      <vt:lpstr>JavaDoc Convention</vt:lpstr>
      <vt:lpstr>JavaDoc Convention</vt:lpstr>
      <vt:lpstr>JavaDoc Convention</vt:lpstr>
      <vt:lpstr>JavaDoc Convention</vt:lpstr>
      <vt:lpstr>JavaDoc Convention</vt:lpstr>
      <vt:lpstr>JavaDoc Convention</vt:lpstr>
      <vt:lpstr>JavaDoc Convention</vt:lpstr>
      <vt:lpstr>JavaDoc Convention</vt:lpstr>
      <vt:lpstr>References</vt:lpstr>
      <vt:lpstr>Thank you!</vt:lpstr>
    </vt:vector>
  </TitlesOfParts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Bui Huy Tin</dc:creator>
  <cp:lastModifiedBy>Tín Huy</cp:lastModifiedBy>
  <cp:revision>910</cp:revision>
  <cp:lastPrinted>2012-06-28T03:01:49Z</cp:lastPrinted>
  <dcterms:created xsi:type="dcterms:W3CDTF">2012-06-11T05:35:46Z</dcterms:created>
  <dcterms:modified xsi:type="dcterms:W3CDTF">2017-10-31T07:25:54Z</dcterms:modified>
</cp:coreProperties>
</file>